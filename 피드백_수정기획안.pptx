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embeddedFontLst>
    <p:embeddedFont>
      <p:font typeface="Pretendard" panose="02000503000000020004" pitchFamily="2" charset="-127"/>
      <p:regular r:id="rId14"/>
      <p:bold r:id="rId15"/>
    </p:embeddedFont>
    <p:embeddedFont>
      <p:font typeface="Pretendard ExtraBold" panose="02000903000000020004" pitchFamily="2" charset="-127"/>
      <p:bold r:id="rId16"/>
    </p:embeddedFont>
    <p:embeddedFont>
      <p:font typeface="Pretendard SemiBold" panose="02000703000000020004" pitchFamily="2" charset="-127"/>
      <p:bold r:id="rId1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274107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발표에서 받은 피드백을 바탕으로 게임 기획을 수정했습니다. 오늘은 무엇을 바꾸고 무엇을 더했는지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승마에서 기수는 말을 직접 움직이지 않습니다. 부조라고 하는 신호를 보내 말과 대화합니다. 손으로 잡는 고삐, 다리, 기좌와 체중 같은 몸으로 보내는 자연 부조가 있고, 채찍이나 박차처럼 도구로 신호를 보강하는 인공 부조가 있습니다. 말은 이 신호를 받아 평보, 속보, 구보, 습보의 보법으로 움직이고, 걸음마다 일정한 리듬이 있어 기수는 그 리듬에 몸을 맞춥니다. 이제 이 승마의 구조를 저희 게임에 어떻게 구현했고, 어떤 조작으로 표현했는지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승마의 부조 기술을 일곱 가지 조작으로 옮겼습니다. 고삐, 다리, 자세, 보법, 리듬, 점프, 채찍입니다. 이 중 보법과 리듬이 일반 레이싱 게임과 가장 다른 부분입니다.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왼손으로는 말을 다룹니다. W와 S로 가속과 감속, A와 D로 방향, Shift로 보법 전환, Space로 점프, Tab으로 채찍입니다. 오른손은 기수의 몸입니다. 위 방향키를 누르고 있으면 몸을 숙인 레이싱 자세, 좌우 방향키는 몸을 기울여 코너를 돕습니다. 처음에는 가속, 방향, 점프만으로도 충분히 탈 수 있게 단계별로 익힙니다.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직선에서는 빠른 습보로, 코너 전에는 안정적인 구보로 모드를 바꿉니다. 습보로 코너에 들어가면 밀려납니다. 또 W를 말발굽 박자에 맞춰 누르면 스태미나를 아끼면서 더 빨리 달릴 수 있습니다. 말과 호흡을 맞추는 감각을 손으로 느끼게 하는 것이 목표입니다.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레이스 한 판은 이렇게 흘러갑니다. 출발해서 습보로 올리고, 직선에서는 리듬으로 체력을 아끼고, 코너 전에는 구보로 내려 몸을 기울여 돕니다. 장애물은 점프로 넘고, 마지막 직선에서 아껴둔 채찍으로 추월합니다.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규모를 키우기 위해 오픈 필드를 추가했습니다. 마을과 마을을 잇는 길이 아니라, 넓은 필드 위에 콘셉트가 서로 다른 마을 세 곳이 자리 잡은 구조입니다. 마을마다 마구간, 대회장, 상점, 퀘스트 게시판이 있고, 필드에서는 어디든 자유롭게 달리며 채집하고, 점프 코스를 넘어 숨겨진 수집품을 찾을 수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필드에서는 세 가지를 합니다. 먹이와 치장 재료를 채집하고, 점프 코스를 넘어 숨겨진 수집품을 찾고, 마을에서 받은 퀘스트를 수행해 보상을 얻습니다.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육성은 먹이로 합니다. 밥을 먹이면 레벨이 올라 전체 능력치가 오르고, 과일은 속도, 채소는 지구력, 곡물은 순발력, 견과류는 점프력을 올립니다. 포만감으로 한 번에 먹일 수 있는 양을 제한합니다. RPG 요소가 레이싱을 흐리지 않도록 모든 성장이 레이스 성능으로만 이어지게 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정리하면 필드에서 재료와 돈을 모으고, 마을에서 말을 키우고 꾸미고, 강해진 말로 레이스에 나가 상금을 받아 다시 필드로 나가는 구조입니다.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앞으로는 기승 조작 프로토타입으로 손맛을 먼저 검증하고, 마을 콘셉트와 퀘스트 같은 콘텐츠를 상세 설계하고, 아트 방향을 세우겠습니다. 감사합니다.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title.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822960" y="914400"/>
            <a:ext cx="5486400" cy="365760"/>
          </a:xfrm>
          <a:prstGeom prst="rect">
            <a:avLst/>
          </a:prstGeom>
          <a:noFill/>
        </p:spPr>
        <p:txBody>
          <a:bodyPr wrap="square" lIns="0" tIns="0" rIns="0" bIns="0" anchor="t">
            <a:spAutoFit/>
          </a:bodyPr>
          <a:lstStyle/>
          <a:p>
            <a:pPr algn="l">
              <a:lnSpc>
                <a:spcPct val="110000"/>
              </a:lnSpc>
            </a:pPr>
            <a:r>
              <a:rPr sz="1500" b="0">
                <a:solidFill>
                  <a:srgbClr val="F0C47C"/>
                </a:solidFill>
                <a:latin typeface="Pretendard SemiBold"/>
                <a:ea typeface="Pretendard SemiBold"/>
                <a:cs typeface="Pretendard SemiBold"/>
              </a:rPr>
              <a:t>졸업작품 기획 · 피드백 반영</a:t>
            </a:r>
          </a:p>
        </p:txBody>
      </p:sp>
      <p:sp>
        <p:nvSpPr>
          <p:cNvPr id="4" name="TextBox 3"/>
          <p:cNvSpPr txBox="1"/>
          <p:nvPr/>
        </p:nvSpPr>
        <p:spPr>
          <a:xfrm>
            <a:off x="822960" y="1417320"/>
            <a:ext cx="6858000" cy="1828800"/>
          </a:xfrm>
          <a:prstGeom prst="rect">
            <a:avLst/>
          </a:prstGeom>
          <a:noFill/>
        </p:spPr>
        <p:txBody>
          <a:bodyPr wrap="square" lIns="0" tIns="0" rIns="0" bIns="0" anchor="t">
            <a:spAutoFit/>
          </a:bodyPr>
          <a:lstStyle/>
          <a:p>
            <a:pPr algn="l">
              <a:lnSpc>
                <a:spcPct val="105000"/>
              </a:lnSpc>
            </a:pPr>
            <a:r>
              <a:rPr sz="5400" b="0">
                <a:solidFill>
                  <a:srgbClr val="FBF5DE"/>
                </a:solidFill>
                <a:latin typeface="Pretendard ExtraBold"/>
                <a:ea typeface="Pretendard ExtraBold"/>
                <a:cs typeface="Pretendard ExtraBold"/>
              </a:rPr>
              <a:t>피드백 반영</a:t>
            </a:r>
          </a:p>
          <a:p>
            <a:pPr algn="l">
              <a:lnSpc>
                <a:spcPct val="105000"/>
              </a:lnSpc>
            </a:pPr>
            <a:r>
              <a:rPr sz="5400" b="0">
                <a:solidFill>
                  <a:srgbClr val="FBF5DE"/>
                </a:solidFill>
                <a:latin typeface="Pretendard ExtraBold"/>
                <a:ea typeface="Pretendard ExtraBold"/>
                <a:cs typeface="Pretendard ExtraBold"/>
              </a:rPr>
              <a:t>수정 기획안</a:t>
            </a:r>
          </a:p>
        </p:txBody>
      </p:sp>
      <p:sp>
        <p:nvSpPr>
          <p:cNvPr id="5" name="TextBox 4"/>
          <p:cNvSpPr txBox="1"/>
          <p:nvPr/>
        </p:nvSpPr>
        <p:spPr>
          <a:xfrm>
            <a:off x="841248" y="3429000"/>
            <a:ext cx="6400800" cy="457200"/>
          </a:xfrm>
          <a:prstGeom prst="rect">
            <a:avLst/>
          </a:prstGeom>
          <a:noFill/>
        </p:spPr>
        <p:txBody>
          <a:bodyPr wrap="square" lIns="0" tIns="0" rIns="0" bIns="0" anchor="t">
            <a:spAutoFit/>
          </a:bodyPr>
          <a:lstStyle/>
          <a:p>
            <a:pPr algn="l">
              <a:lnSpc>
                <a:spcPct val="110000"/>
              </a:lnSpc>
            </a:pPr>
            <a:r>
              <a:rPr sz="2200" b="0">
                <a:solidFill>
                  <a:srgbClr val="FBF5DE"/>
                </a:solidFill>
                <a:latin typeface="Pretendard SemiBold"/>
                <a:ea typeface="Pretendard SemiBold"/>
                <a:cs typeface="Pretendard SemiBold"/>
              </a:rPr>
              <a:t>승마 레이싱 &amp; 육성 RPG</a:t>
            </a:r>
          </a:p>
        </p:txBody>
      </p:sp>
      <p:sp>
        <p:nvSpPr>
          <p:cNvPr id="6" name="TextBox 5"/>
          <p:cNvSpPr txBox="1"/>
          <p:nvPr/>
        </p:nvSpPr>
        <p:spPr>
          <a:xfrm>
            <a:off x="841248" y="5394960"/>
            <a:ext cx="6400800" cy="365760"/>
          </a:xfrm>
          <a:prstGeom prst="rect">
            <a:avLst/>
          </a:prstGeom>
          <a:noFill/>
        </p:spPr>
        <p:txBody>
          <a:bodyPr wrap="square" lIns="0" tIns="0" rIns="0" bIns="0" anchor="t">
            <a:spAutoFit/>
          </a:bodyPr>
          <a:lstStyle/>
          <a:p>
            <a:pPr algn="l">
              <a:lnSpc>
                <a:spcPct val="110000"/>
              </a:lnSpc>
            </a:pPr>
            <a:r>
              <a:rPr sz="1400" b="0">
                <a:solidFill>
                  <a:srgbClr val="B3C2AE"/>
                </a:solidFill>
                <a:latin typeface="Pretendard"/>
                <a:ea typeface="Pretendard"/>
                <a:cs typeface="Pretendard"/>
              </a:rPr>
              <a:t>김경준  ·  정진영  ·  강석주</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4201A"/>
        </a:solidFill>
        <a:effectLst/>
      </p:bgPr>
    </p:bg>
    <p:spTree>
      <p:nvGrpSpPr>
        <p:cNvPr id="1" name=""/>
        <p:cNvGrpSpPr/>
        <p:nvPr/>
      </p:nvGrpSpPr>
      <p:grpSpPr>
        <a:xfrm>
          <a:off x="0" y="0"/>
          <a:ext cx="0" cy="0"/>
          <a:chOff x="0" y="0"/>
          <a:chExt cx="0" cy="0"/>
        </a:xfrm>
      </p:grpSpPr>
      <p:sp>
        <p:nvSpPr>
          <p:cNvPr id="2" name="Rounded Rectangle 1"/>
          <p:cNvSpPr/>
          <p:nvPr/>
        </p:nvSpPr>
        <p:spPr>
          <a:xfrm>
            <a:off x="9646920" y="566928"/>
            <a:ext cx="1920240" cy="36576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100" b="0">
                <a:solidFill>
                  <a:srgbClr val="F0C47C"/>
                </a:solidFill>
                <a:latin typeface="Pretendard SemiBold"/>
                <a:ea typeface="Pretendard SemiBold"/>
                <a:cs typeface="Pretendard SemiBold"/>
              </a:rPr>
              <a:t>피드백 1 · 2 · 3 대응</a:t>
            </a:r>
          </a:p>
        </p:txBody>
      </p:sp>
      <p:sp>
        <p:nvSpPr>
          <p:cNvPr id="3" name="TextBox 2"/>
          <p:cNvSpPr txBox="1"/>
          <p:nvPr/>
        </p:nvSpPr>
        <p:spPr>
          <a:xfrm>
            <a:off x="640080" y="502920"/>
            <a:ext cx="7315200" cy="365760"/>
          </a:xfrm>
          <a:prstGeom prst="rect">
            <a:avLst/>
          </a:prstGeom>
          <a:noFill/>
        </p:spPr>
        <p:txBody>
          <a:bodyPr wrap="square" lIns="0" tIns="0" rIns="0" bIns="0" anchor="t">
            <a:spAutoFit/>
          </a:bodyPr>
          <a:lstStyle/>
          <a:p>
            <a:pPr algn="l">
              <a:lnSpc>
                <a:spcPct val="110000"/>
              </a:lnSpc>
            </a:pPr>
            <a:r>
              <a:rPr sz="1400" b="0">
                <a:solidFill>
                  <a:srgbClr val="F0C47C"/>
                </a:solidFill>
                <a:latin typeface="Pretendard SemiBold"/>
                <a:ea typeface="Pretendard SemiBold"/>
                <a:cs typeface="Pretendard SemiBold"/>
              </a:rPr>
              <a:t>PART 1  기승 조작 시스템</a:t>
            </a:r>
          </a:p>
        </p:txBody>
      </p:sp>
      <p:sp>
        <p:nvSpPr>
          <p:cNvPr id="4" name="TextBox 3"/>
          <p:cNvSpPr txBox="1"/>
          <p:nvPr/>
        </p:nvSpPr>
        <p:spPr>
          <a:xfrm>
            <a:off x="640080" y="868680"/>
            <a:ext cx="10515600" cy="731520"/>
          </a:xfrm>
          <a:prstGeom prst="rect">
            <a:avLst/>
          </a:prstGeom>
          <a:noFill/>
        </p:spPr>
        <p:txBody>
          <a:bodyPr wrap="square" lIns="0" tIns="0" rIns="0" bIns="0" anchor="t">
            <a:spAutoFit/>
          </a:bodyPr>
          <a:lstStyle/>
          <a:p>
            <a:pPr algn="l">
              <a:lnSpc>
                <a:spcPct val="110000"/>
              </a:lnSpc>
            </a:pPr>
            <a:r>
              <a:rPr sz="3200" b="0">
                <a:solidFill>
                  <a:srgbClr val="FBF5DE"/>
                </a:solidFill>
                <a:latin typeface="Pretendard ExtraBold"/>
                <a:ea typeface="Pretendard ExtraBold"/>
                <a:cs typeface="Pretendard ExtraBold"/>
              </a:rPr>
              <a:t>승마는 '부조'로 말과 대화하는 운동이다</a:t>
            </a:r>
          </a:p>
        </p:txBody>
      </p:sp>
      <p:sp>
        <p:nvSpPr>
          <p:cNvPr id="5" name="TextBox 4"/>
          <p:cNvSpPr txBox="1"/>
          <p:nvPr/>
        </p:nvSpPr>
        <p:spPr>
          <a:xfrm>
            <a:off x="658368" y="1554480"/>
            <a:ext cx="10515600" cy="365760"/>
          </a:xfrm>
          <a:prstGeom prst="rect">
            <a:avLst/>
          </a:prstGeom>
          <a:noFill/>
        </p:spPr>
        <p:txBody>
          <a:bodyPr wrap="square" lIns="0" tIns="0" rIns="0" bIns="0" anchor="t">
            <a:spAutoFit/>
          </a:bodyPr>
          <a:lstStyle/>
          <a:p>
            <a:pPr algn="l">
              <a:lnSpc>
                <a:spcPct val="110000"/>
              </a:lnSpc>
            </a:pPr>
            <a:r>
              <a:rPr sz="1400" b="0">
                <a:solidFill>
                  <a:srgbClr val="B3C2AE"/>
                </a:solidFill>
                <a:latin typeface="Pretendard"/>
                <a:ea typeface="Pretendard"/>
                <a:cs typeface="Pretendard"/>
              </a:rPr>
              <a:t>부조(扶助, Aids) — 기수가 말에게 보내는 신호</a:t>
            </a:r>
          </a:p>
        </p:txBody>
      </p:sp>
      <p:sp>
        <p:nvSpPr>
          <p:cNvPr id="6" name="Rounded Rectangle 5"/>
          <p:cNvSpPr/>
          <p:nvPr/>
        </p:nvSpPr>
        <p:spPr>
          <a:xfrm>
            <a:off x="640080" y="2103120"/>
            <a:ext cx="2377440" cy="960120"/>
          </a:xfrm>
          <a:prstGeom prst="roundRect">
            <a:avLst>
              <a:gd name="adj" fmla="val 8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40080" y="2103120"/>
            <a:ext cx="2377440" cy="960120"/>
          </a:xfrm>
          <a:prstGeom prst="rect">
            <a:avLst/>
          </a:prstGeom>
          <a:noFill/>
        </p:spPr>
        <p:txBody>
          <a:bodyPr wrap="square" lIns="0" tIns="0" rIns="0" bIns="0" anchor="ctr">
            <a:spAutoFit/>
          </a:bodyPr>
          <a:lstStyle/>
          <a:p>
            <a:pPr algn="ctr">
              <a:lnSpc>
                <a:spcPct val="110000"/>
              </a:lnSpc>
            </a:pPr>
            <a:r>
              <a:rPr sz="2000" b="0">
                <a:solidFill>
                  <a:srgbClr val="FBF5DE"/>
                </a:solidFill>
                <a:latin typeface="Pretendard ExtraBold"/>
                <a:ea typeface="Pretendard ExtraBold"/>
                <a:cs typeface="Pretendard ExtraBold"/>
              </a:rPr>
              <a:t>기수</a:t>
            </a:r>
          </a:p>
          <a:p>
            <a:pPr algn="ctr">
              <a:lnSpc>
                <a:spcPct val="110000"/>
              </a:lnSpc>
            </a:pPr>
            <a:r>
              <a:rPr sz="1150" b="0">
                <a:solidFill>
                  <a:srgbClr val="FBF5DE"/>
                </a:solidFill>
                <a:latin typeface="Pretendard"/>
                <a:ea typeface="Pretendard"/>
                <a:cs typeface="Pretendard"/>
              </a:rPr>
              <a:t>신호를 보낸다</a:t>
            </a:r>
          </a:p>
        </p:txBody>
      </p:sp>
      <p:cxnSp>
        <p:nvCxnSpPr>
          <p:cNvPr id="8" name="Connector 7"/>
          <p:cNvCxnSpPr/>
          <p:nvPr/>
        </p:nvCxnSpPr>
        <p:spPr>
          <a:xfrm>
            <a:off x="3072384" y="2583180"/>
            <a:ext cx="365760" cy="0"/>
          </a:xfrm>
          <a:prstGeom prst="line">
            <a:avLst/>
          </a:prstGeom>
          <a:ln w="28575">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474720" y="2103120"/>
            <a:ext cx="2377440" cy="960120"/>
          </a:xfrm>
          <a:prstGeom prst="roundRect">
            <a:avLst>
              <a:gd name="adj" fmla="val 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474720" y="2103120"/>
            <a:ext cx="2377440" cy="960120"/>
          </a:xfrm>
          <a:prstGeom prst="rect">
            <a:avLst/>
          </a:prstGeom>
          <a:noFill/>
        </p:spPr>
        <p:txBody>
          <a:bodyPr wrap="square" lIns="0" tIns="0" rIns="0" bIns="0" anchor="ctr">
            <a:spAutoFit/>
          </a:bodyPr>
          <a:lstStyle/>
          <a:p>
            <a:pPr algn="ctr">
              <a:lnSpc>
                <a:spcPct val="110000"/>
              </a:lnSpc>
            </a:pPr>
            <a:r>
              <a:rPr sz="2000" b="0">
                <a:solidFill>
                  <a:srgbClr val="14201A"/>
                </a:solidFill>
                <a:latin typeface="Pretendard ExtraBold"/>
                <a:ea typeface="Pretendard ExtraBold"/>
                <a:cs typeface="Pretendard ExtraBold"/>
              </a:rPr>
              <a:t>부조</a:t>
            </a:r>
          </a:p>
          <a:p>
            <a:pPr algn="ctr">
              <a:lnSpc>
                <a:spcPct val="110000"/>
              </a:lnSpc>
            </a:pPr>
            <a:r>
              <a:rPr sz="1150" b="0">
                <a:solidFill>
                  <a:srgbClr val="14201A"/>
                </a:solidFill>
                <a:latin typeface="Pretendard"/>
                <a:ea typeface="Pretendard"/>
                <a:cs typeface="Pretendard"/>
              </a:rPr>
              <a:t>손 · 다리 · 체중 · 도구</a:t>
            </a:r>
          </a:p>
        </p:txBody>
      </p:sp>
      <p:cxnSp>
        <p:nvCxnSpPr>
          <p:cNvPr id="11" name="Connector 10"/>
          <p:cNvCxnSpPr/>
          <p:nvPr/>
        </p:nvCxnSpPr>
        <p:spPr>
          <a:xfrm>
            <a:off x="5907024" y="2583180"/>
            <a:ext cx="365759" cy="0"/>
          </a:xfrm>
          <a:prstGeom prst="line">
            <a:avLst/>
          </a:prstGeom>
          <a:ln w="28575">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2103120"/>
            <a:ext cx="2377440" cy="960120"/>
          </a:xfrm>
          <a:prstGeom prst="roundRect">
            <a:avLst>
              <a:gd name="adj" fmla="val 8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309360" y="2103120"/>
            <a:ext cx="2377440" cy="960120"/>
          </a:xfrm>
          <a:prstGeom prst="rect">
            <a:avLst/>
          </a:prstGeom>
          <a:noFill/>
        </p:spPr>
        <p:txBody>
          <a:bodyPr wrap="square" lIns="0" tIns="0" rIns="0" bIns="0" anchor="ctr">
            <a:spAutoFit/>
          </a:bodyPr>
          <a:lstStyle/>
          <a:p>
            <a:pPr algn="ctr">
              <a:lnSpc>
                <a:spcPct val="110000"/>
              </a:lnSpc>
            </a:pPr>
            <a:r>
              <a:rPr sz="2000" b="0">
                <a:solidFill>
                  <a:srgbClr val="FBF5DE"/>
                </a:solidFill>
                <a:latin typeface="Pretendard ExtraBold"/>
                <a:ea typeface="Pretendard ExtraBold"/>
                <a:cs typeface="Pretendard ExtraBold"/>
              </a:rPr>
              <a:t>말</a:t>
            </a:r>
          </a:p>
          <a:p>
            <a:pPr algn="ctr">
              <a:lnSpc>
                <a:spcPct val="110000"/>
              </a:lnSpc>
            </a:pPr>
            <a:r>
              <a:rPr sz="1150" b="0">
                <a:solidFill>
                  <a:srgbClr val="FBF5DE"/>
                </a:solidFill>
                <a:latin typeface="Pretendard"/>
                <a:ea typeface="Pretendard"/>
                <a:cs typeface="Pretendard"/>
              </a:rPr>
              <a:t>보법과 리듬으로 반응</a:t>
            </a:r>
          </a:p>
        </p:txBody>
      </p:sp>
      <p:cxnSp>
        <p:nvCxnSpPr>
          <p:cNvPr id="14" name="Connector 13"/>
          <p:cNvCxnSpPr/>
          <p:nvPr/>
        </p:nvCxnSpPr>
        <p:spPr>
          <a:xfrm>
            <a:off x="8741664" y="2583180"/>
            <a:ext cx="365760" cy="0"/>
          </a:xfrm>
          <a:prstGeom prst="line">
            <a:avLst/>
          </a:prstGeom>
          <a:ln w="28575">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144000" y="2103120"/>
            <a:ext cx="2377440" cy="960120"/>
          </a:xfrm>
          <a:prstGeom prst="roundRect">
            <a:avLst>
              <a:gd name="adj" fmla="val 8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144000" y="2103120"/>
            <a:ext cx="2377440" cy="960120"/>
          </a:xfrm>
          <a:prstGeom prst="rect">
            <a:avLst/>
          </a:prstGeom>
          <a:noFill/>
        </p:spPr>
        <p:txBody>
          <a:bodyPr wrap="square" lIns="0" tIns="0" rIns="0" bIns="0" anchor="ctr">
            <a:spAutoFit/>
          </a:bodyPr>
          <a:lstStyle/>
          <a:p>
            <a:pPr algn="ctr">
              <a:lnSpc>
                <a:spcPct val="110000"/>
              </a:lnSpc>
            </a:pPr>
            <a:r>
              <a:rPr sz="2000" b="0">
                <a:solidFill>
                  <a:srgbClr val="FBF5DE"/>
                </a:solidFill>
                <a:latin typeface="Pretendard ExtraBold"/>
                <a:ea typeface="Pretendard ExtraBold"/>
                <a:cs typeface="Pretendard ExtraBold"/>
              </a:rPr>
              <a:t>움직임</a:t>
            </a:r>
          </a:p>
          <a:p>
            <a:pPr algn="ctr">
              <a:lnSpc>
                <a:spcPct val="110000"/>
              </a:lnSpc>
            </a:pPr>
            <a:r>
              <a:rPr sz="1150" b="0">
                <a:solidFill>
                  <a:srgbClr val="FBF5DE"/>
                </a:solidFill>
                <a:latin typeface="Pretendard"/>
                <a:ea typeface="Pretendard"/>
                <a:cs typeface="Pretendard"/>
              </a:rPr>
              <a:t>방향 · 속도 · 도약</a:t>
            </a:r>
          </a:p>
        </p:txBody>
      </p:sp>
      <p:sp>
        <p:nvSpPr>
          <p:cNvPr id="17" name="Rounded Rectangle 16"/>
          <p:cNvSpPr/>
          <p:nvPr/>
        </p:nvSpPr>
        <p:spPr>
          <a:xfrm>
            <a:off x="640080" y="3337560"/>
            <a:ext cx="3502152" cy="22402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4400" y="3493008"/>
            <a:ext cx="3108960" cy="411480"/>
          </a:xfrm>
          <a:prstGeom prst="rect">
            <a:avLst/>
          </a:prstGeom>
          <a:noFill/>
        </p:spPr>
        <p:txBody>
          <a:bodyPr wrap="square" lIns="0" tIns="0" rIns="0" bIns="0" anchor="t">
            <a:spAutoFit/>
          </a:bodyPr>
          <a:lstStyle/>
          <a:p>
            <a:pPr algn="l">
              <a:lnSpc>
                <a:spcPct val="110000"/>
              </a:lnSpc>
            </a:pPr>
            <a:r>
              <a:rPr sz="1900" b="0">
                <a:solidFill>
                  <a:srgbClr val="7FB078"/>
                </a:solidFill>
                <a:latin typeface="Pretendard ExtraBold"/>
                <a:ea typeface="Pretendard ExtraBold"/>
                <a:cs typeface="Pretendard ExtraBold"/>
              </a:rPr>
              <a:t>자연 부조</a:t>
            </a:r>
          </a:p>
        </p:txBody>
      </p:sp>
      <p:sp>
        <p:nvSpPr>
          <p:cNvPr id="19" name="TextBox 18"/>
          <p:cNvSpPr txBox="1"/>
          <p:nvPr/>
        </p:nvSpPr>
        <p:spPr>
          <a:xfrm>
            <a:off x="914400" y="3886200"/>
            <a:ext cx="3108960" cy="320040"/>
          </a:xfrm>
          <a:prstGeom prst="rect">
            <a:avLst/>
          </a:prstGeom>
          <a:noFill/>
        </p:spPr>
        <p:txBody>
          <a:bodyPr wrap="square" lIns="0" tIns="0" rIns="0" bIns="0" anchor="t">
            <a:spAutoFit/>
          </a:bodyPr>
          <a:lstStyle/>
          <a:p>
            <a:pPr algn="l">
              <a:lnSpc>
                <a:spcPct val="110000"/>
              </a:lnSpc>
            </a:pPr>
            <a:r>
              <a:rPr sz="1150" b="0">
                <a:solidFill>
                  <a:srgbClr val="B3C2AE"/>
                </a:solidFill>
                <a:latin typeface="Pretendard"/>
                <a:ea typeface="Pretendard"/>
                <a:cs typeface="Pretendard"/>
              </a:rPr>
              <a:t>기수의 몸으로 보내는 신호</a:t>
            </a:r>
          </a:p>
        </p:txBody>
      </p:sp>
      <p:sp>
        <p:nvSpPr>
          <p:cNvPr id="20" name="TextBox 19"/>
          <p:cNvSpPr txBox="1"/>
          <p:nvPr/>
        </p:nvSpPr>
        <p:spPr>
          <a:xfrm>
            <a:off x="914400" y="4297680"/>
            <a:ext cx="320040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SemiBold"/>
                <a:ea typeface="Pretendard SemiBold"/>
                <a:cs typeface="Pretendard SemiBold"/>
              </a:rPr>
              <a:t>손 (고삐)   </a:t>
            </a:r>
            <a:r>
              <a:rPr sz="1200" b="0">
                <a:solidFill>
                  <a:srgbClr val="B3C2AE"/>
                </a:solidFill>
                <a:latin typeface="Pretendard"/>
                <a:ea typeface="Pretendard"/>
                <a:cs typeface="Pretendard"/>
              </a:rPr>
              <a:t>방향 전환 · 감속</a:t>
            </a:r>
          </a:p>
        </p:txBody>
      </p:sp>
      <p:sp>
        <p:nvSpPr>
          <p:cNvPr id="21" name="TextBox 20"/>
          <p:cNvSpPr txBox="1"/>
          <p:nvPr/>
        </p:nvSpPr>
        <p:spPr>
          <a:xfrm>
            <a:off x="914400" y="4690872"/>
            <a:ext cx="320040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SemiBold"/>
                <a:ea typeface="Pretendard SemiBold"/>
                <a:cs typeface="Pretendard SemiBold"/>
              </a:rPr>
              <a:t>다리   </a:t>
            </a:r>
            <a:r>
              <a:rPr sz="1200" b="0">
                <a:solidFill>
                  <a:srgbClr val="B3C2AE"/>
                </a:solidFill>
                <a:latin typeface="Pretendard"/>
                <a:ea typeface="Pretendard"/>
                <a:cs typeface="Pretendard"/>
              </a:rPr>
              <a:t>전진 · 가속</a:t>
            </a:r>
          </a:p>
        </p:txBody>
      </p:sp>
      <p:sp>
        <p:nvSpPr>
          <p:cNvPr id="22" name="TextBox 21"/>
          <p:cNvSpPr txBox="1"/>
          <p:nvPr/>
        </p:nvSpPr>
        <p:spPr>
          <a:xfrm>
            <a:off x="914400" y="5084064"/>
            <a:ext cx="320040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SemiBold"/>
                <a:ea typeface="Pretendard SemiBold"/>
                <a:cs typeface="Pretendard SemiBold"/>
              </a:rPr>
              <a:t>기좌 · 체중   </a:t>
            </a:r>
            <a:r>
              <a:rPr sz="1200" b="0">
                <a:solidFill>
                  <a:srgbClr val="B3C2AE"/>
                </a:solidFill>
                <a:latin typeface="Pretendard"/>
                <a:ea typeface="Pretendard"/>
                <a:cs typeface="Pretendard"/>
              </a:rPr>
              <a:t>균형 · 코너링 · 자세</a:t>
            </a:r>
          </a:p>
        </p:txBody>
      </p:sp>
      <p:sp>
        <p:nvSpPr>
          <p:cNvPr id="23" name="Rounded Rectangle 22"/>
          <p:cNvSpPr/>
          <p:nvPr/>
        </p:nvSpPr>
        <p:spPr>
          <a:xfrm>
            <a:off x="4288536" y="3337560"/>
            <a:ext cx="3502152" cy="22402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562856" y="3493008"/>
            <a:ext cx="3108960" cy="411480"/>
          </a:xfrm>
          <a:prstGeom prst="rect">
            <a:avLst/>
          </a:prstGeom>
          <a:noFill/>
        </p:spPr>
        <p:txBody>
          <a:bodyPr wrap="square" lIns="0" tIns="0" rIns="0" bIns="0" anchor="t">
            <a:spAutoFit/>
          </a:bodyPr>
          <a:lstStyle/>
          <a:p>
            <a:pPr algn="l">
              <a:lnSpc>
                <a:spcPct val="110000"/>
              </a:lnSpc>
            </a:pPr>
            <a:r>
              <a:rPr sz="1900" b="0">
                <a:solidFill>
                  <a:srgbClr val="7FB078"/>
                </a:solidFill>
                <a:latin typeface="Pretendard ExtraBold"/>
                <a:ea typeface="Pretendard ExtraBold"/>
                <a:cs typeface="Pretendard ExtraBold"/>
              </a:rPr>
              <a:t>인공 부조</a:t>
            </a:r>
          </a:p>
        </p:txBody>
      </p:sp>
      <p:sp>
        <p:nvSpPr>
          <p:cNvPr id="25" name="TextBox 24"/>
          <p:cNvSpPr txBox="1"/>
          <p:nvPr/>
        </p:nvSpPr>
        <p:spPr>
          <a:xfrm>
            <a:off x="4562856" y="3886200"/>
            <a:ext cx="3108960" cy="320040"/>
          </a:xfrm>
          <a:prstGeom prst="rect">
            <a:avLst/>
          </a:prstGeom>
          <a:noFill/>
        </p:spPr>
        <p:txBody>
          <a:bodyPr wrap="square" lIns="0" tIns="0" rIns="0" bIns="0" anchor="t">
            <a:spAutoFit/>
          </a:bodyPr>
          <a:lstStyle/>
          <a:p>
            <a:pPr algn="l">
              <a:lnSpc>
                <a:spcPct val="110000"/>
              </a:lnSpc>
            </a:pPr>
            <a:r>
              <a:rPr sz="1150" b="0">
                <a:solidFill>
                  <a:srgbClr val="B3C2AE"/>
                </a:solidFill>
                <a:latin typeface="Pretendard"/>
                <a:ea typeface="Pretendard"/>
                <a:cs typeface="Pretendard"/>
              </a:rPr>
              <a:t>도구로 보강하는 신호</a:t>
            </a:r>
          </a:p>
        </p:txBody>
      </p:sp>
      <p:sp>
        <p:nvSpPr>
          <p:cNvPr id="26" name="TextBox 25"/>
          <p:cNvSpPr txBox="1"/>
          <p:nvPr/>
        </p:nvSpPr>
        <p:spPr>
          <a:xfrm>
            <a:off x="4562856" y="4297680"/>
            <a:ext cx="320040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SemiBold"/>
                <a:ea typeface="Pretendard SemiBold"/>
                <a:cs typeface="Pretendard SemiBold"/>
              </a:rPr>
              <a:t>채찍   </a:t>
            </a:r>
            <a:r>
              <a:rPr sz="1200" b="0">
                <a:solidFill>
                  <a:srgbClr val="B3C2AE"/>
                </a:solidFill>
                <a:latin typeface="Pretendard"/>
                <a:ea typeface="Pretendard"/>
                <a:cs typeface="Pretendard"/>
              </a:rPr>
              <a:t>다리 신호 보강, 순간 추진</a:t>
            </a:r>
          </a:p>
        </p:txBody>
      </p:sp>
      <p:sp>
        <p:nvSpPr>
          <p:cNvPr id="27" name="TextBox 26"/>
          <p:cNvSpPr txBox="1"/>
          <p:nvPr/>
        </p:nvSpPr>
        <p:spPr>
          <a:xfrm>
            <a:off x="4562856" y="4690872"/>
            <a:ext cx="320040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SemiBold"/>
                <a:ea typeface="Pretendard SemiBold"/>
                <a:cs typeface="Pretendard SemiBold"/>
              </a:rPr>
              <a:t>박차   </a:t>
            </a:r>
            <a:r>
              <a:rPr sz="1200" b="0">
                <a:solidFill>
                  <a:srgbClr val="B3C2AE"/>
                </a:solidFill>
                <a:latin typeface="Pretendard"/>
                <a:ea typeface="Pretendard"/>
                <a:cs typeface="Pretendard"/>
              </a:rPr>
              <a:t>더 강한 다리 신호</a:t>
            </a:r>
          </a:p>
        </p:txBody>
      </p:sp>
      <p:sp>
        <p:nvSpPr>
          <p:cNvPr id="28" name="Rounded Rectangle 27"/>
          <p:cNvSpPr/>
          <p:nvPr/>
        </p:nvSpPr>
        <p:spPr>
          <a:xfrm>
            <a:off x="7936992" y="3337560"/>
            <a:ext cx="3502152" cy="22402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211312" y="3493008"/>
            <a:ext cx="3108960" cy="411480"/>
          </a:xfrm>
          <a:prstGeom prst="rect">
            <a:avLst/>
          </a:prstGeom>
          <a:noFill/>
        </p:spPr>
        <p:txBody>
          <a:bodyPr wrap="square" lIns="0" tIns="0" rIns="0" bIns="0" anchor="t">
            <a:spAutoFit/>
          </a:bodyPr>
          <a:lstStyle/>
          <a:p>
            <a:pPr algn="l">
              <a:lnSpc>
                <a:spcPct val="110000"/>
              </a:lnSpc>
            </a:pPr>
            <a:r>
              <a:rPr sz="1900" b="0">
                <a:solidFill>
                  <a:srgbClr val="F0C47C"/>
                </a:solidFill>
                <a:latin typeface="Pretendard ExtraBold"/>
                <a:ea typeface="Pretendard ExtraBold"/>
                <a:cs typeface="Pretendard ExtraBold"/>
              </a:rPr>
              <a:t>말의 움직임</a:t>
            </a:r>
          </a:p>
        </p:txBody>
      </p:sp>
      <p:sp>
        <p:nvSpPr>
          <p:cNvPr id="30" name="TextBox 29"/>
          <p:cNvSpPr txBox="1"/>
          <p:nvPr/>
        </p:nvSpPr>
        <p:spPr>
          <a:xfrm>
            <a:off x="8211312" y="3886200"/>
            <a:ext cx="3108960" cy="320040"/>
          </a:xfrm>
          <a:prstGeom prst="rect">
            <a:avLst/>
          </a:prstGeom>
          <a:noFill/>
        </p:spPr>
        <p:txBody>
          <a:bodyPr wrap="square" lIns="0" tIns="0" rIns="0" bIns="0" anchor="t">
            <a:spAutoFit/>
          </a:bodyPr>
          <a:lstStyle/>
          <a:p>
            <a:pPr algn="l">
              <a:lnSpc>
                <a:spcPct val="110000"/>
              </a:lnSpc>
            </a:pPr>
            <a:r>
              <a:rPr sz="1150" b="0">
                <a:solidFill>
                  <a:srgbClr val="B3C2AE"/>
                </a:solidFill>
                <a:latin typeface="Pretendard"/>
                <a:ea typeface="Pretendard"/>
                <a:cs typeface="Pretendard"/>
              </a:rPr>
              <a:t>기수가 맞춰야 하는 리듬</a:t>
            </a:r>
          </a:p>
        </p:txBody>
      </p:sp>
      <p:sp>
        <p:nvSpPr>
          <p:cNvPr id="31" name="TextBox 30"/>
          <p:cNvSpPr txBox="1"/>
          <p:nvPr/>
        </p:nvSpPr>
        <p:spPr>
          <a:xfrm>
            <a:off x="8211312" y="4297680"/>
            <a:ext cx="320040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SemiBold"/>
                <a:ea typeface="Pretendard SemiBold"/>
                <a:cs typeface="Pretendard SemiBold"/>
              </a:rPr>
              <a:t>보법   </a:t>
            </a:r>
            <a:r>
              <a:rPr sz="1200" b="0">
                <a:solidFill>
                  <a:srgbClr val="B3C2AE"/>
                </a:solidFill>
                <a:latin typeface="Pretendard"/>
                <a:ea typeface="Pretendard"/>
                <a:cs typeface="Pretendard"/>
              </a:rPr>
              <a:t>평보 → 속보 → 구보 → 습보</a:t>
            </a:r>
          </a:p>
        </p:txBody>
      </p:sp>
      <p:sp>
        <p:nvSpPr>
          <p:cNvPr id="32" name="TextBox 31"/>
          <p:cNvSpPr txBox="1"/>
          <p:nvPr/>
        </p:nvSpPr>
        <p:spPr>
          <a:xfrm>
            <a:off x="8211312" y="4690872"/>
            <a:ext cx="320040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SemiBold"/>
                <a:ea typeface="Pretendard SemiBold"/>
                <a:cs typeface="Pretendard SemiBold"/>
              </a:rPr>
              <a:t>리듬   </a:t>
            </a:r>
            <a:r>
              <a:rPr sz="1200" b="0">
                <a:solidFill>
                  <a:srgbClr val="B3C2AE"/>
                </a:solidFill>
                <a:latin typeface="Pretendard"/>
                <a:ea typeface="Pretendard"/>
                <a:cs typeface="Pretendard"/>
              </a:rPr>
              <a:t>걸음마다 일정한 박자</a:t>
            </a:r>
          </a:p>
        </p:txBody>
      </p:sp>
      <p:sp>
        <p:nvSpPr>
          <p:cNvPr id="33" name="Rounded Rectangle 32"/>
          <p:cNvSpPr/>
          <p:nvPr/>
        </p:nvSpPr>
        <p:spPr>
          <a:xfrm>
            <a:off x="640080" y="5852160"/>
            <a:ext cx="2377440" cy="50292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300" b="0">
                <a:solidFill>
                  <a:srgbClr val="F0C47C"/>
                </a:solidFill>
                <a:latin typeface="Pretendard SemiBold"/>
                <a:ea typeface="Pretendard SemiBold"/>
                <a:cs typeface="Pretendard SemiBold"/>
              </a:rPr>
              <a:t>1  실제 승마 기술</a:t>
            </a:r>
          </a:p>
        </p:txBody>
      </p:sp>
      <p:cxnSp>
        <p:nvCxnSpPr>
          <p:cNvPr id="34" name="Connector 33"/>
          <p:cNvCxnSpPr/>
          <p:nvPr/>
        </p:nvCxnSpPr>
        <p:spPr>
          <a:xfrm>
            <a:off x="3072384" y="6103620"/>
            <a:ext cx="310896" cy="0"/>
          </a:xfrm>
          <a:prstGeom prst="line">
            <a:avLst/>
          </a:prstGeom>
          <a:ln w="19050">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474720" y="5852160"/>
            <a:ext cx="2377440" cy="50292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300" b="0">
                <a:solidFill>
                  <a:srgbClr val="F0C47C"/>
                </a:solidFill>
                <a:latin typeface="Pretendard SemiBold"/>
                <a:ea typeface="Pretendard SemiBold"/>
                <a:cs typeface="Pretendard SemiBold"/>
              </a:rPr>
              <a:t>2  게임 구현</a:t>
            </a:r>
          </a:p>
        </p:txBody>
      </p:sp>
      <p:cxnSp>
        <p:nvCxnSpPr>
          <p:cNvPr id="36" name="Connector 35"/>
          <p:cNvCxnSpPr/>
          <p:nvPr/>
        </p:nvCxnSpPr>
        <p:spPr>
          <a:xfrm>
            <a:off x="5907024" y="6103620"/>
            <a:ext cx="310896" cy="0"/>
          </a:xfrm>
          <a:prstGeom prst="line">
            <a:avLst/>
          </a:prstGeom>
          <a:ln w="19050">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6309360" y="5852160"/>
            <a:ext cx="2377440" cy="50292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300" b="0">
                <a:solidFill>
                  <a:srgbClr val="F0C47C"/>
                </a:solidFill>
                <a:latin typeface="Pretendard SemiBold"/>
                <a:ea typeface="Pretendard SemiBold"/>
                <a:cs typeface="Pretendard SemiBold"/>
              </a:rPr>
              <a:t>3  조작 방식</a:t>
            </a:r>
          </a:p>
        </p:txBody>
      </p:sp>
      <p:sp>
        <p:nvSpPr>
          <p:cNvPr id="38" name="TextBox 37"/>
          <p:cNvSpPr txBox="1"/>
          <p:nvPr/>
        </p:nvSpPr>
        <p:spPr>
          <a:xfrm>
            <a:off x="9189720" y="5852160"/>
            <a:ext cx="2377440" cy="502920"/>
          </a:xfrm>
          <a:prstGeom prst="rect">
            <a:avLst/>
          </a:prstGeom>
          <a:noFill/>
        </p:spPr>
        <p:txBody>
          <a:bodyPr wrap="square" lIns="0" tIns="0" rIns="0" bIns="0" anchor="ctr">
            <a:spAutoFit/>
          </a:bodyPr>
          <a:lstStyle/>
          <a:p>
            <a:pPr algn="l">
              <a:lnSpc>
                <a:spcPct val="110000"/>
              </a:lnSpc>
            </a:pPr>
            <a:r>
              <a:rPr sz="1200" b="0">
                <a:solidFill>
                  <a:srgbClr val="B3C2AE"/>
                </a:solidFill>
                <a:latin typeface="Pretendard"/>
                <a:ea typeface="Pretendard"/>
                <a:cs typeface="Pretendard"/>
              </a:rPr>
              <a:t>PART 1의 흐름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4201A"/>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96012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실제 승마 기술을 게임으로</a:t>
            </a:r>
          </a:p>
        </p:txBody>
      </p:sp>
      <p:sp>
        <p:nvSpPr>
          <p:cNvPr id="3" name="TextBox 2"/>
          <p:cNvSpPr txBox="1"/>
          <p:nvPr/>
        </p:nvSpPr>
        <p:spPr>
          <a:xfrm>
            <a:off x="658368" y="1207008"/>
            <a:ext cx="9601200" cy="365760"/>
          </a:xfrm>
          <a:prstGeom prst="rect">
            <a:avLst/>
          </a:prstGeom>
          <a:noFill/>
        </p:spPr>
        <p:txBody>
          <a:bodyPr wrap="square" lIns="0" tIns="0" rIns="0" bIns="0" anchor="t">
            <a:spAutoFit/>
          </a:bodyPr>
          <a:lstStyle/>
          <a:p>
            <a:pPr algn="l">
              <a:lnSpc>
                <a:spcPct val="110000"/>
              </a:lnSpc>
            </a:pPr>
            <a:r>
              <a:rPr sz="1500" b="0">
                <a:solidFill>
                  <a:srgbClr val="F0C47C"/>
                </a:solidFill>
                <a:latin typeface="Pretendard SemiBold"/>
                <a:ea typeface="Pretendard SemiBold"/>
                <a:cs typeface="Pretendard SemiBold"/>
              </a:rPr>
              <a:t>7가지 기승 조작</a:t>
            </a:r>
          </a:p>
        </p:txBody>
      </p:sp>
      <p:sp>
        <p:nvSpPr>
          <p:cNvPr id="4" name="Rounded Rectangle 3"/>
          <p:cNvSpPr/>
          <p:nvPr/>
        </p:nvSpPr>
        <p:spPr>
          <a:xfrm>
            <a:off x="9646920" y="566928"/>
            <a:ext cx="1920240" cy="36576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100" b="0">
                <a:solidFill>
                  <a:srgbClr val="F0C47C"/>
                </a:solidFill>
                <a:latin typeface="Pretendard SemiBold"/>
                <a:ea typeface="Pretendard SemiBold"/>
                <a:cs typeface="Pretendard SemiBold"/>
              </a:rPr>
              <a:t>피드백 2 대응</a:t>
            </a:r>
          </a:p>
        </p:txBody>
      </p:sp>
      <p:sp>
        <p:nvSpPr>
          <p:cNvPr id="5" name="Rounded Rectangle 4"/>
          <p:cNvSpPr/>
          <p:nvPr/>
        </p:nvSpPr>
        <p:spPr>
          <a:xfrm>
            <a:off x="640080" y="1828800"/>
            <a:ext cx="2560320" cy="1874519"/>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859536" y="2048255"/>
            <a:ext cx="566928" cy="566928"/>
          </a:xfrm>
          <a:prstGeom prst="ellipse">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1</a:t>
            </a:r>
          </a:p>
        </p:txBody>
      </p:sp>
      <p:sp>
        <p:nvSpPr>
          <p:cNvPr id="7" name="TextBox 6"/>
          <p:cNvSpPr txBox="1"/>
          <p:nvPr/>
        </p:nvSpPr>
        <p:spPr>
          <a:xfrm>
            <a:off x="914400" y="2743200"/>
            <a:ext cx="2103120" cy="457200"/>
          </a:xfrm>
          <a:prstGeom prst="rect">
            <a:avLst/>
          </a:prstGeom>
          <a:noFill/>
        </p:spPr>
        <p:txBody>
          <a:bodyPr wrap="square" lIns="0" tIns="0" rIns="0" bIns="0" anchor="t">
            <a:spAutoFit/>
          </a:bodyPr>
          <a:lstStyle/>
          <a:p>
            <a:pPr algn="l">
              <a:lnSpc>
                <a:spcPct val="110000"/>
              </a:lnSpc>
            </a:pPr>
            <a:r>
              <a:rPr sz="2000" b="0">
                <a:solidFill>
                  <a:srgbClr val="FBF5DE"/>
                </a:solidFill>
                <a:latin typeface="Pretendard ExtraBold"/>
                <a:ea typeface="Pretendard ExtraBold"/>
                <a:cs typeface="Pretendard ExtraBold"/>
              </a:rPr>
              <a:t>고삐</a:t>
            </a:r>
          </a:p>
        </p:txBody>
      </p:sp>
      <p:sp>
        <p:nvSpPr>
          <p:cNvPr id="8" name="TextBox 7"/>
          <p:cNvSpPr txBox="1"/>
          <p:nvPr/>
        </p:nvSpPr>
        <p:spPr>
          <a:xfrm>
            <a:off x="914400" y="3200400"/>
            <a:ext cx="2148840" cy="45720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방향 전환 · 감속</a:t>
            </a:r>
          </a:p>
        </p:txBody>
      </p:sp>
      <p:sp>
        <p:nvSpPr>
          <p:cNvPr id="9" name="Rounded Rectangle 8"/>
          <p:cNvSpPr/>
          <p:nvPr/>
        </p:nvSpPr>
        <p:spPr>
          <a:xfrm>
            <a:off x="3429000" y="1828800"/>
            <a:ext cx="2560320" cy="1874519"/>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648456" y="2048255"/>
            <a:ext cx="566928" cy="566928"/>
          </a:xfrm>
          <a:prstGeom prst="ellipse">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2</a:t>
            </a:r>
          </a:p>
        </p:txBody>
      </p:sp>
      <p:sp>
        <p:nvSpPr>
          <p:cNvPr id="11" name="TextBox 10"/>
          <p:cNvSpPr txBox="1"/>
          <p:nvPr/>
        </p:nvSpPr>
        <p:spPr>
          <a:xfrm>
            <a:off x="3703320" y="2743200"/>
            <a:ext cx="2103120" cy="457200"/>
          </a:xfrm>
          <a:prstGeom prst="rect">
            <a:avLst/>
          </a:prstGeom>
          <a:noFill/>
        </p:spPr>
        <p:txBody>
          <a:bodyPr wrap="square" lIns="0" tIns="0" rIns="0" bIns="0" anchor="t">
            <a:spAutoFit/>
          </a:bodyPr>
          <a:lstStyle/>
          <a:p>
            <a:pPr algn="l">
              <a:lnSpc>
                <a:spcPct val="110000"/>
              </a:lnSpc>
            </a:pPr>
            <a:r>
              <a:rPr sz="2000" b="0">
                <a:solidFill>
                  <a:srgbClr val="FBF5DE"/>
                </a:solidFill>
                <a:latin typeface="Pretendard ExtraBold"/>
                <a:ea typeface="Pretendard ExtraBold"/>
                <a:cs typeface="Pretendard ExtraBold"/>
              </a:rPr>
              <a:t>다리(박차)</a:t>
            </a:r>
          </a:p>
        </p:txBody>
      </p:sp>
      <p:sp>
        <p:nvSpPr>
          <p:cNvPr id="12" name="TextBox 11"/>
          <p:cNvSpPr txBox="1"/>
          <p:nvPr/>
        </p:nvSpPr>
        <p:spPr>
          <a:xfrm>
            <a:off x="3703320" y="3200400"/>
            <a:ext cx="2148840" cy="45720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가속, 스태미나 소모</a:t>
            </a:r>
          </a:p>
        </p:txBody>
      </p:sp>
      <p:sp>
        <p:nvSpPr>
          <p:cNvPr id="13" name="Rounded Rectangle 12"/>
          <p:cNvSpPr/>
          <p:nvPr/>
        </p:nvSpPr>
        <p:spPr>
          <a:xfrm>
            <a:off x="6217920" y="1828800"/>
            <a:ext cx="2560320" cy="1874519"/>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437376" y="2048255"/>
            <a:ext cx="566928" cy="566928"/>
          </a:xfrm>
          <a:prstGeom prst="ellipse">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3</a:t>
            </a:r>
          </a:p>
        </p:txBody>
      </p:sp>
      <p:sp>
        <p:nvSpPr>
          <p:cNvPr id="15" name="TextBox 14"/>
          <p:cNvSpPr txBox="1"/>
          <p:nvPr/>
        </p:nvSpPr>
        <p:spPr>
          <a:xfrm>
            <a:off x="6492240" y="2743200"/>
            <a:ext cx="2103120" cy="457200"/>
          </a:xfrm>
          <a:prstGeom prst="rect">
            <a:avLst/>
          </a:prstGeom>
          <a:noFill/>
        </p:spPr>
        <p:txBody>
          <a:bodyPr wrap="square" lIns="0" tIns="0" rIns="0" bIns="0" anchor="t">
            <a:spAutoFit/>
          </a:bodyPr>
          <a:lstStyle/>
          <a:p>
            <a:pPr algn="l">
              <a:lnSpc>
                <a:spcPct val="110000"/>
              </a:lnSpc>
            </a:pPr>
            <a:r>
              <a:rPr sz="2000" b="0">
                <a:solidFill>
                  <a:srgbClr val="FBF5DE"/>
                </a:solidFill>
                <a:latin typeface="Pretendard ExtraBold"/>
                <a:ea typeface="Pretendard ExtraBold"/>
                <a:cs typeface="Pretendard ExtraBold"/>
              </a:rPr>
              <a:t>자세</a:t>
            </a:r>
          </a:p>
        </p:txBody>
      </p:sp>
      <p:sp>
        <p:nvSpPr>
          <p:cNvPr id="16" name="TextBox 15"/>
          <p:cNvSpPr txBox="1"/>
          <p:nvPr/>
        </p:nvSpPr>
        <p:spPr>
          <a:xfrm>
            <a:off x="6492240" y="3200400"/>
            <a:ext cx="2148840" cy="45720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코너링 · 최고 속도</a:t>
            </a:r>
          </a:p>
        </p:txBody>
      </p:sp>
      <p:sp>
        <p:nvSpPr>
          <p:cNvPr id="17" name="Rounded Rectangle 16"/>
          <p:cNvSpPr/>
          <p:nvPr/>
        </p:nvSpPr>
        <p:spPr>
          <a:xfrm>
            <a:off x="9006840" y="1828800"/>
            <a:ext cx="2560320" cy="1874519"/>
          </a:xfrm>
          <a:prstGeom prst="roundRect">
            <a:avLst>
              <a:gd name="adj" fmla="val 8000"/>
            </a:avLst>
          </a:prstGeom>
          <a:solidFill>
            <a:srgbClr val="294033"/>
          </a:solid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9226296" y="2048255"/>
            <a:ext cx="566928" cy="566928"/>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4</a:t>
            </a:r>
          </a:p>
        </p:txBody>
      </p:sp>
      <p:sp>
        <p:nvSpPr>
          <p:cNvPr id="19" name="TextBox 18"/>
          <p:cNvSpPr txBox="1"/>
          <p:nvPr/>
        </p:nvSpPr>
        <p:spPr>
          <a:xfrm>
            <a:off x="9281160" y="2743200"/>
            <a:ext cx="2103120" cy="457200"/>
          </a:xfrm>
          <a:prstGeom prst="rect">
            <a:avLst/>
          </a:prstGeom>
          <a:noFill/>
        </p:spPr>
        <p:txBody>
          <a:bodyPr wrap="square" lIns="0" tIns="0" rIns="0" bIns="0" anchor="t">
            <a:spAutoFit/>
          </a:bodyPr>
          <a:lstStyle/>
          <a:p>
            <a:pPr algn="l">
              <a:lnSpc>
                <a:spcPct val="110000"/>
              </a:lnSpc>
            </a:pPr>
            <a:r>
              <a:rPr sz="2000" b="0">
                <a:solidFill>
                  <a:srgbClr val="F0C47C"/>
                </a:solidFill>
                <a:latin typeface="Pretendard ExtraBold"/>
                <a:ea typeface="Pretendard ExtraBold"/>
                <a:cs typeface="Pretendard ExtraBold"/>
              </a:rPr>
              <a:t>보법</a:t>
            </a:r>
          </a:p>
        </p:txBody>
      </p:sp>
      <p:sp>
        <p:nvSpPr>
          <p:cNvPr id="20" name="TextBox 19"/>
          <p:cNvSpPr txBox="1"/>
          <p:nvPr/>
        </p:nvSpPr>
        <p:spPr>
          <a:xfrm>
            <a:off x="9281160" y="3200400"/>
            <a:ext cx="2148840" cy="45720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구보 / 습보 모드 전환</a:t>
            </a:r>
          </a:p>
        </p:txBody>
      </p:sp>
      <p:sp>
        <p:nvSpPr>
          <p:cNvPr id="21" name="Rounded Rectangle 20"/>
          <p:cNvSpPr/>
          <p:nvPr/>
        </p:nvSpPr>
        <p:spPr>
          <a:xfrm>
            <a:off x="2029968" y="3977639"/>
            <a:ext cx="2560320" cy="1874519"/>
          </a:xfrm>
          <a:prstGeom prst="roundRect">
            <a:avLst>
              <a:gd name="adj" fmla="val 8000"/>
            </a:avLst>
          </a:prstGeom>
          <a:solidFill>
            <a:srgbClr val="294033"/>
          </a:solid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249424" y="4197096"/>
            <a:ext cx="566928" cy="566928"/>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5</a:t>
            </a:r>
          </a:p>
        </p:txBody>
      </p:sp>
      <p:sp>
        <p:nvSpPr>
          <p:cNvPr id="23" name="TextBox 22"/>
          <p:cNvSpPr txBox="1"/>
          <p:nvPr/>
        </p:nvSpPr>
        <p:spPr>
          <a:xfrm>
            <a:off x="2304288" y="4892040"/>
            <a:ext cx="2103120" cy="457200"/>
          </a:xfrm>
          <a:prstGeom prst="rect">
            <a:avLst/>
          </a:prstGeom>
          <a:noFill/>
        </p:spPr>
        <p:txBody>
          <a:bodyPr wrap="square" lIns="0" tIns="0" rIns="0" bIns="0" anchor="t">
            <a:spAutoFit/>
          </a:bodyPr>
          <a:lstStyle/>
          <a:p>
            <a:pPr algn="l">
              <a:lnSpc>
                <a:spcPct val="110000"/>
              </a:lnSpc>
            </a:pPr>
            <a:r>
              <a:rPr sz="2000" b="0">
                <a:solidFill>
                  <a:srgbClr val="F0C47C"/>
                </a:solidFill>
                <a:latin typeface="Pretendard ExtraBold"/>
                <a:ea typeface="Pretendard ExtraBold"/>
                <a:cs typeface="Pretendard ExtraBold"/>
              </a:rPr>
              <a:t>리듬</a:t>
            </a:r>
          </a:p>
        </p:txBody>
      </p:sp>
      <p:sp>
        <p:nvSpPr>
          <p:cNvPr id="24" name="TextBox 23"/>
          <p:cNvSpPr txBox="1"/>
          <p:nvPr/>
        </p:nvSpPr>
        <p:spPr>
          <a:xfrm>
            <a:off x="2304288" y="5349240"/>
            <a:ext cx="2148840" cy="45720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박자에 맞추면 효율 가속</a:t>
            </a:r>
          </a:p>
        </p:txBody>
      </p:sp>
      <p:sp>
        <p:nvSpPr>
          <p:cNvPr id="25" name="Rounded Rectangle 24"/>
          <p:cNvSpPr/>
          <p:nvPr/>
        </p:nvSpPr>
        <p:spPr>
          <a:xfrm>
            <a:off x="4818888" y="3977639"/>
            <a:ext cx="2560320" cy="1874519"/>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5038344" y="4197096"/>
            <a:ext cx="566928" cy="566928"/>
          </a:xfrm>
          <a:prstGeom prst="ellipse">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6</a:t>
            </a:r>
          </a:p>
        </p:txBody>
      </p:sp>
      <p:sp>
        <p:nvSpPr>
          <p:cNvPr id="27" name="TextBox 26"/>
          <p:cNvSpPr txBox="1"/>
          <p:nvPr/>
        </p:nvSpPr>
        <p:spPr>
          <a:xfrm>
            <a:off x="5093207" y="4892040"/>
            <a:ext cx="2103120" cy="457200"/>
          </a:xfrm>
          <a:prstGeom prst="rect">
            <a:avLst/>
          </a:prstGeom>
          <a:noFill/>
        </p:spPr>
        <p:txBody>
          <a:bodyPr wrap="square" lIns="0" tIns="0" rIns="0" bIns="0" anchor="t">
            <a:spAutoFit/>
          </a:bodyPr>
          <a:lstStyle/>
          <a:p>
            <a:pPr algn="l">
              <a:lnSpc>
                <a:spcPct val="110000"/>
              </a:lnSpc>
            </a:pPr>
            <a:r>
              <a:rPr sz="2000" b="0">
                <a:solidFill>
                  <a:srgbClr val="FBF5DE"/>
                </a:solidFill>
                <a:latin typeface="Pretendard ExtraBold"/>
                <a:ea typeface="Pretendard ExtraBold"/>
                <a:cs typeface="Pretendard ExtraBold"/>
              </a:rPr>
              <a:t>점프</a:t>
            </a:r>
          </a:p>
        </p:txBody>
      </p:sp>
      <p:sp>
        <p:nvSpPr>
          <p:cNvPr id="28" name="TextBox 27"/>
          <p:cNvSpPr txBox="1"/>
          <p:nvPr/>
        </p:nvSpPr>
        <p:spPr>
          <a:xfrm>
            <a:off x="5093207" y="5349240"/>
            <a:ext cx="2148840" cy="45720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장애물 타이밍</a:t>
            </a:r>
          </a:p>
        </p:txBody>
      </p:sp>
      <p:sp>
        <p:nvSpPr>
          <p:cNvPr id="29" name="Rounded Rectangle 28"/>
          <p:cNvSpPr/>
          <p:nvPr/>
        </p:nvSpPr>
        <p:spPr>
          <a:xfrm>
            <a:off x="7607808" y="3977639"/>
            <a:ext cx="2560320" cy="1874519"/>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7827264" y="4197096"/>
            <a:ext cx="566928" cy="566928"/>
          </a:xfrm>
          <a:prstGeom prst="ellipse">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7</a:t>
            </a:r>
          </a:p>
        </p:txBody>
      </p:sp>
      <p:sp>
        <p:nvSpPr>
          <p:cNvPr id="31" name="TextBox 30"/>
          <p:cNvSpPr txBox="1"/>
          <p:nvPr/>
        </p:nvSpPr>
        <p:spPr>
          <a:xfrm>
            <a:off x="7882128" y="4892040"/>
            <a:ext cx="2103120" cy="457200"/>
          </a:xfrm>
          <a:prstGeom prst="rect">
            <a:avLst/>
          </a:prstGeom>
          <a:noFill/>
        </p:spPr>
        <p:txBody>
          <a:bodyPr wrap="square" lIns="0" tIns="0" rIns="0" bIns="0" anchor="t">
            <a:spAutoFit/>
          </a:bodyPr>
          <a:lstStyle/>
          <a:p>
            <a:pPr algn="l">
              <a:lnSpc>
                <a:spcPct val="110000"/>
              </a:lnSpc>
            </a:pPr>
            <a:r>
              <a:rPr sz="2000" b="0">
                <a:solidFill>
                  <a:srgbClr val="FBF5DE"/>
                </a:solidFill>
                <a:latin typeface="Pretendard ExtraBold"/>
                <a:ea typeface="Pretendard ExtraBold"/>
                <a:cs typeface="Pretendard ExtraBold"/>
              </a:rPr>
              <a:t>채찍</a:t>
            </a:r>
          </a:p>
        </p:txBody>
      </p:sp>
      <p:sp>
        <p:nvSpPr>
          <p:cNvPr id="32" name="TextBox 31"/>
          <p:cNvSpPr txBox="1"/>
          <p:nvPr/>
        </p:nvSpPr>
        <p:spPr>
          <a:xfrm>
            <a:off x="7882128" y="5349240"/>
            <a:ext cx="2148840" cy="45720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레이스당 횟수 제한 순간 가속</a:t>
            </a:r>
          </a:p>
        </p:txBody>
      </p:sp>
      <p:sp>
        <p:nvSpPr>
          <p:cNvPr id="33" name="TextBox 32"/>
          <p:cNvSpPr txBox="1"/>
          <p:nvPr/>
        </p:nvSpPr>
        <p:spPr>
          <a:xfrm>
            <a:off x="640080" y="6080760"/>
            <a:ext cx="10972800" cy="365760"/>
          </a:xfrm>
          <a:prstGeom prst="rect">
            <a:avLst/>
          </a:prstGeom>
          <a:noFill/>
        </p:spPr>
        <p:txBody>
          <a:bodyPr wrap="square" lIns="0" tIns="0" rIns="0" bIns="0" anchor="t">
            <a:spAutoFit/>
          </a:bodyPr>
          <a:lstStyle/>
          <a:p>
            <a:pPr algn="l">
              <a:lnSpc>
                <a:spcPct val="110000"/>
              </a:lnSpc>
            </a:pPr>
            <a:r>
              <a:rPr sz="1200" b="0">
                <a:solidFill>
                  <a:srgbClr val="B3C2AE"/>
                </a:solidFill>
                <a:latin typeface="Pretendard"/>
                <a:ea typeface="Pretendard"/>
                <a:cs typeface="Pretendard"/>
              </a:rPr>
              <a:t>강조된 보법 · 리듬이 우리 게임만의 차별점</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4201A"/>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96012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왼손은 말을, 오른손은 기수의 몸을</a:t>
            </a:r>
          </a:p>
        </p:txBody>
      </p:sp>
      <p:sp>
        <p:nvSpPr>
          <p:cNvPr id="3" name="TextBox 2"/>
          <p:cNvSpPr txBox="1"/>
          <p:nvPr/>
        </p:nvSpPr>
        <p:spPr>
          <a:xfrm>
            <a:off x="658368" y="1207008"/>
            <a:ext cx="9601200" cy="365760"/>
          </a:xfrm>
          <a:prstGeom prst="rect">
            <a:avLst/>
          </a:prstGeom>
          <a:noFill/>
        </p:spPr>
        <p:txBody>
          <a:bodyPr wrap="square" lIns="0" tIns="0" rIns="0" bIns="0" anchor="t">
            <a:spAutoFit/>
          </a:bodyPr>
          <a:lstStyle/>
          <a:p>
            <a:pPr algn="l">
              <a:lnSpc>
                <a:spcPct val="110000"/>
              </a:lnSpc>
            </a:pPr>
            <a:r>
              <a:rPr sz="1500" b="0">
                <a:solidFill>
                  <a:srgbClr val="F0C47C"/>
                </a:solidFill>
                <a:latin typeface="Pretendard SemiBold"/>
                <a:ea typeface="Pretendard SemiBold"/>
                <a:cs typeface="Pretendard SemiBold"/>
              </a:rPr>
              <a:t>키보드 조작</a:t>
            </a:r>
          </a:p>
        </p:txBody>
      </p:sp>
      <p:sp>
        <p:nvSpPr>
          <p:cNvPr id="4" name="Rounded Rectangle 3"/>
          <p:cNvSpPr/>
          <p:nvPr/>
        </p:nvSpPr>
        <p:spPr>
          <a:xfrm>
            <a:off x="9646920" y="566928"/>
            <a:ext cx="1920240" cy="36576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100" b="0">
                <a:solidFill>
                  <a:srgbClr val="F0C47C"/>
                </a:solidFill>
                <a:latin typeface="Pretendard SemiBold"/>
                <a:ea typeface="Pretendard SemiBold"/>
                <a:cs typeface="Pretendard SemiBold"/>
              </a:rPr>
              <a:t>피드백 2 · 3 대응</a:t>
            </a:r>
          </a:p>
        </p:txBody>
      </p:sp>
      <p:sp>
        <p:nvSpPr>
          <p:cNvPr id="5" name="Rounded Rectangle 4"/>
          <p:cNvSpPr/>
          <p:nvPr/>
        </p:nvSpPr>
        <p:spPr>
          <a:xfrm>
            <a:off x="822960" y="2011680"/>
            <a:ext cx="1005840" cy="713232"/>
          </a:xfrm>
          <a:prstGeom prst="roundRect">
            <a:avLst>
              <a:gd name="adj" fmla="val 1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Tab</a:t>
            </a:r>
          </a:p>
        </p:txBody>
      </p:sp>
      <p:sp>
        <p:nvSpPr>
          <p:cNvPr id="6" name="TextBox 5"/>
          <p:cNvSpPr txBox="1"/>
          <p:nvPr/>
        </p:nvSpPr>
        <p:spPr>
          <a:xfrm>
            <a:off x="640080" y="2788920"/>
            <a:ext cx="137160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채찍</a:t>
            </a:r>
          </a:p>
        </p:txBody>
      </p:sp>
      <p:sp>
        <p:nvSpPr>
          <p:cNvPr id="7" name="Rounded Rectangle 6"/>
          <p:cNvSpPr/>
          <p:nvPr/>
        </p:nvSpPr>
        <p:spPr>
          <a:xfrm>
            <a:off x="2057400" y="2011680"/>
            <a:ext cx="731520" cy="713232"/>
          </a:xfrm>
          <a:prstGeom prst="roundRect">
            <a:avLst>
              <a:gd name="adj" fmla="val 1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W</a:t>
            </a:r>
          </a:p>
        </p:txBody>
      </p:sp>
      <p:sp>
        <p:nvSpPr>
          <p:cNvPr id="8" name="TextBox 7"/>
          <p:cNvSpPr txBox="1"/>
          <p:nvPr/>
        </p:nvSpPr>
        <p:spPr>
          <a:xfrm>
            <a:off x="1874519" y="2788920"/>
            <a:ext cx="109728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가속 · 리듬</a:t>
            </a:r>
          </a:p>
        </p:txBody>
      </p:sp>
      <p:sp>
        <p:nvSpPr>
          <p:cNvPr id="9" name="Rounded Rectangle 8"/>
          <p:cNvSpPr/>
          <p:nvPr/>
        </p:nvSpPr>
        <p:spPr>
          <a:xfrm>
            <a:off x="822960" y="3154680"/>
            <a:ext cx="1188720" cy="713232"/>
          </a:xfrm>
          <a:prstGeom prst="roundRect">
            <a:avLst>
              <a:gd name="adj" fmla="val 1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Shift</a:t>
            </a:r>
          </a:p>
        </p:txBody>
      </p:sp>
      <p:sp>
        <p:nvSpPr>
          <p:cNvPr id="10" name="TextBox 9"/>
          <p:cNvSpPr txBox="1"/>
          <p:nvPr/>
        </p:nvSpPr>
        <p:spPr>
          <a:xfrm>
            <a:off x="640080" y="3931920"/>
            <a:ext cx="155448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구보↔습보</a:t>
            </a:r>
          </a:p>
        </p:txBody>
      </p:sp>
      <p:sp>
        <p:nvSpPr>
          <p:cNvPr id="11" name="Rounded Rectangle 10"/>
          <p:cNvSpPr/>
          <p:nvPr/>
        </p:nvSpPr>
        <p:spPr>
          <a:xfrm>
            <a:off x="2194560" y="3154680"/>
            <a:ext cx="731520" cy="713232"/>
          </a:xfrm>
          <a:prstGeom prst="roundRect">
            <a:avLst>
              <a:gd name="adj" fmla="val 1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A</a:t>
            </a:r>
          </a:p>
        </p:txBody>
      </p:sp>
      <p:sp>
        <p:nvSpPr>
          <p:cNvPr id="12" name="TextBox 11"/>
          <p:cNvSpPr txBox="1"/>
          <p:nvPr/>
        </p:nvSpPr>
        <p:spPr>
          <a:xfrm>
            <a:off x="2011679" y="3931920"/>
            <a:ext cx="109728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좌</a:t>
            </a:r>
          </a:p>
        </p:txBody>
      </p:sp>
      <p:sp>
        <p:nvSpPr>
          <p:cNvPr id="13" name="Rounded Rectangle 12"/>
          <p:cNvSpPr/>
          <p:nvPr/>
        </p:nvSpPr>
        <p:spPr>
          <a:xfrm>
            <a:off x="3017520" y="3154680"/>
            <a:ext cx="731520" cy="713232"/>
          </a:xfrm>
          <a:prstGeom prst="roundRect">
            <a:avLst>
              <a:gd name="adj" fmla="val 1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S</a:t>
            </a:r>
          </a:p>
        </p:txBody>
      </p:sp>
      <p:sp>
        <p:nvSpPr>
          <p:cNvPr id="14" name="TextBox 13"/>
          <p:cNvSpPr txBox="1"/>
          <p:nvPr/>
        </p:nvSpPr>
        <p:spPr>
          <a:xfrm>
            <a:off x="2834639" y="3931920"/>
            <a:ext cx="109728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감속</a:t>
            </a:r>
          </a:p>
        </p:txBody>
      </p:sp>
      <p:sp>
        <p:nvSpPr>
          <p:cNvPr id="15" name="Rounded Rectangle 14"/>
          <p:cNvSpPr/>
          <p:nvPr/>
        </p:nvSpPr>
        <p:spPr>
          <a:xfrm>
            <a:off x="3840480" y="3154680"/>
            <a:ext cx="731520" cy="713232"/>
          </a:xfrm>
          <a:prstGeom prst="roundRect">
            <a:avLst>
              <a:gd name="adj" fmla="val 1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D</a:t>
            </a:r>
          </a:p>
        </p:txBody>
      </p:sp>
      <p:sp>
        <p:nvSpPr>
          <p:cNvPr id="16" name="TextBox 15"/>
          <p:cNvSpPr txBox="1"/>
          <p:nvPr/>
        </p:nvSpPr>
        <p:spPr>
          <a:xfrm>
            <a:off x="3657600" y="3931920"/>
            <a:ext cx="109728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우</a:t>
            </a:r>
          </a:p>
        </p:txBody>
      </p:sp>
      <p:sp>
        <p:nvSpPr>
          <p:cNvPr id="17" name="Rounded Rectangle 16"/>
          <p:cNvSpPr/>
          <p:nvPr/>
        </p:nvSpPr>
        <p:spPr>
          <a:xfrm>
            <a:off x="1463040" y="4297680"/>
            <a:ext cx="2743200" cy="713232"/>
          </a:xfrm>
          <a:prstGeom prst="roundRect">
            <a:avLst>
              <a:gd name="adj" fmla="val 18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Space</a:t>
            </a:r>
          </a:p>
        </p:txBody>
      </p:sp>
      <p:sp>
        <p:nvSpPr>
          <p:cNvPr id="18" name="TextBox 17"/>
          <p:cNvSpPr txBox="1"/>
          <p:nvPr/>
        </p:nvSpPr>
        <p:spPr>
          <a:xfrm>
            <a:off x="1280160" y="5074920"/>
            <a:ext cx="310896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점프</a:t>
            </a:r>
          </a:p>
        </p:txBody>
      </p:sp>
      <p:sp>
        <p:nvSpPr>
          <p:cNvPr id="19" name="Rounded Rectangle 18"/>
          <p:cNvSpPr/>
          <p:nvPr/>
        </p:nvSpPr>
        <p:spPr>
          <a:xfrm>
            <a:off x="8641080" y="2606040"/>
            <a:ext cx="777240" cy="713232"/>
          </a:xfrm>
          <a:prstGeom prst="roundRect">
            <a:avLst>
              <a:gd name="adj" fmla="val 18000"/>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a:t>
            </a:r>
          </a:p>
        </p:txBody>
      </p:sp>
      <p:sp>
        <p:nvSpPr>
          <p:cNvPr id="20" name="TextBox 19"/>
          <p:cNvSpPr txBox="1"/>
          <p:nvPr/>
        </p:nvSpPr>
        <p:spPr>
          <a:xfrm>
            <a:off x="8458200" y="3383280"/>
            <a:ext cx="114300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레이싱 자세</a:t>
            </a:r>
          </a:p>
        </p:txBody>
      </p:sp>
      <p:sp>
        <p:nvSpPr>
          <p:cNvPr id="21" name="Rounded Rectangle 20"/>
          <p:cNvSpPr/>
          <p:nvPr/>
        </p:nvSpPr>
        <p:spPr>
          <a:xfrm>
            <a:off x="7772400" y="3611880"/>
            <a:ext cx="777240" cy="713232"/>
          </a:xfrm>
          <a:prstGeom prst="roundRect">
            <a:avLst>
              <a:gd name="adj" fmla="val 18000"/>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a:t>
            </a:r>
          </a:p>
        </p:txBody>
      </p:sp>
      <p:sp>
        <p:nvSpPr>
          <p:cNvPr id="22" name="TextBox 21"/>
          <p:cNvSpPr txBox="1"/>
          <p:nvPr/>
        </p:nvSpPr>
        <p:spPr>
          <a:xfrm>
            <a:off x="7589520" y="4389120"/>
            <a:ext cx="114300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몸 기울이기</a:t>
            </a:r>
          </a:p>
        </p:txBody>
      </p:sp>
      <p:sp>
        <p:nvSpPr>
          <p:cNvPr id="23" name="Rounded Rectangle 22"/>
          <p:cNvSpPr/>
          <p:nvPr/>
        </p:nvSpPr>
        <p:spPr>
          <a:xfrm>
            <a:off x="9509760" y="3611880"/>
            <a:ext cx="777240" cy="713232"/>
          </a:xfrm>
          <a:prstGeom prst="roundRect">
            <a:avLst>
              <a:gd name="adj" fmla="val 18000"/>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14201A"/>
                </a:solidFill>
                <a:latin typeface="Pretendard ExtraBold"/>
                <a:ea typeface="Pretendard ExtraBold"/>
                <a:cs typeface="Pretendard ExtraBold"/>
              </a:rPr>
              <a:t>→</a:t>
            </a:r>
          </a:p>
        </p:txBody>
      </p:sp>
      <p:sp>
        <p:nvSpPr>
          <p:cNvPr id="24" name="TextBox 23"/>
          <p:cNvSpPr txBox="1"/>
          <p:nvPr/>
        </p:nvSpPr>
        <p:spPr>
          <a:xfrm>
            <a:off x="9326880" y="4389120"/>
            <a:ext cx="1143000" cy="320040"/>
          </a:xfrm>
          <a:prstGeom prst="rect">
            <a:avLst/>
          </a:prstGeom>
          <a:noFill/>
        </p:spPr>
        <p:txBody>
          <a:bodyPr wrap="square" lIns="0" tIns="0" rIns="0" bIns="0" anchor="t">
            <a:spAutoFit/>
          </a:bodyPr>
          <a:lstStyle/>
          <a:p>
            <a:pPr algn="ctr">
              <a:lnSpc>
                <a:spcPct val="110000"/>
              </a:lnSpc>
            </a:pPr>
            <a:r>
              <a:rPr sz="1050" b="0">
                <a:solidFill>
                  <a:srgbClr val="FBF5DE"/>
                </a:solidFill>
                <a:latin typeface="Pretendard"/>
                <a:ea typeface="Pretendard"/>
                <a:cs typeface="Pretendard"/>
              </a:rPr>
              <a:t>몸 기울이기</a:t>
            </a:r>
          </a:p>
        </p:txBody>
      </p:sp>
      <p:sp>
        <p:nvSpPr>
          <p:cNvPr id="25" name="TextBox 24"/>
          <p:cNvSpPr txBox="1"/>
          <p:nvPr/>
        </p:nvSpPr>
        <p:spPr>
          <a:xfrm>
            <a:off x="822960" y="1600200"/>
            <a:ext cx="4572000" cy="320040"/>
          </a:xfrm>
          <a:prstGeom prst="rect">
            <a:avLst/>
          </a:prstGeom>
          <a:noFill/>
        </p:spPr>
        <p:txBody>
          <a:bodyPr wrap="square" lIns="0" tIns="0" rIns="0" bIns="0" anchor="t">
            <a:spAutoFit/>
          </a:bodyPr>
          <a:lstStyle/>
          <a:p>
            <a:pPr algn="l">
              <a:lnSpc>
                <a:spcPct val="110000"/>
              </a:lnSpc>
            </a:pPr>
            <a:r>
              <a:rPr sz="1500" b="0">
                <a:solidFill>
                  <a:srgbClr val="F0C47C"/>
                </a:solidFill>
                <a:latin typeface="Pretendard ExtraBold"/>
                <a:ea typeface="Pretendard ExtraBold"/>
                <a:cs typeface="Pretendard ExtraBold"/>
              </a:rPr>
              <a:t>왼손 — 말 조작</a:t>
            </a:r>
          </a:p>
        </p:txBody>
      </p:sp>
      <p:sp>
        <p:nvSpPr>
          <p:cNvPr id="26" name="TextBox 25"/>
          <p:cNvSpPr txBox="1"/>
          <p:nvPr/>
        </p:nvSpPr>
        <p:spPr>
          <a:xfrm>
            <a:off x="7589520" y="1600200"/>
            <a:ext cx="3657600" cy="320040"/>
          </a:xfrm>
          <a:prstGeom prst="rect">
            <a:avLst/>
          </a:prstGeom>
          <a:noFill/>
        </p:spPr>
        <p:txBody>
          <a:bodyPr wrap="square" lIns="0" tIns="0" rIns="0" bIns="0" anchor="t">
            <a:spAutoFit/>
          </a:bodyPr>
          <a:lstStyle/>
          <a:p>
            <a:pPr algn="l">
              <a:lnSpc>
                <a:spcPct val="110000"/>
              </a:lnSpc>
            </a:pPr>
            <a:r>
              <a:rPr sz="1500" b="0">
                <a:solidFill>
                  <a:srgbClr val="7FB078"/>
                </a:solidFill>
                <a:latin typeface="Pretendard ExtraBold"/>
                <a:ea typeface="Pretendard ExtraBold"/>
                <a:cs typeface="Pretendard ExtraBold"/>
              </a:rPr>
              <a:t>오른손 — 기수의 몸 (홀드)</a:t>
            </a:r>
          </a:p>
        </p:txBody>
      </p:sp>
      <p:sp>
        <p:nvSpPr>
          <p:cNvPr id="27" name="Rounded Rectangle 26"/>
          <p:cNvSpPr/>
          <p:nvPr/>
        </p:nvSpPr>
        <p:spPr>
          <a:xfrm>
            <a:off x="822960" y="5532120"/>
            <a:ext cx="3429000" cy="6400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5532120"/>
            <a:ext cx="3108960" cy="640080"/>
          </a:xfrm>
          <a:prstGeom prst="rect">
            <a:avLst/>
          </a:prstGeom>
          <a:noFill/>
        </p:spPr>
        <p:txBody>
          <a:bodyPr wrap="square" lIns="0" tIns="0" rIns="0" bIns="0" anchor="ctr">
            <a:spAutoFit/>
          </a:bodyPr>
          <a:lstStyle/>
          <a:p>
            <a:pPr algn="l">
              <a:lnSpc>
                <a:spcPct val="110000"/>
              </a:lnSpc>
            </a:pPr>
            <a:r>
              <a:rPr sz="1500" b="0">
                <a:solidFill>
                  <a:srgbClr val="F0C47C"/>
                </a:solidFill>
                <a:latin typeface="Pretendard ExtraBold"/>
                <a:ea typeface="Pretendard ExtraBold"/>
                <a:cs typeface="Pretendard ExtraBold"/>
              </a:rPr>
              <a:t>입문   </a:t>
            </a:r>
            <a:r>
              <a:rPr sz="1300" b="0">
                <a:solidFill>
                  <a:srgbClr val="FBF5DE"/>
                </a:solidFill>
                <a:latin typeface="Pretendard"/>
                <a:ea typeface="Pretendard"/>
                <a:cs typeface="Pretendard"/>
              </a:rPr>
              <a:t>W/S · A/D · Space</a:t>
            </a:r>
          </a:p>
        </p:txBody>
      </p:sp>
      <p:cxnSp>
        <p:nvCxnSpPr>
          <p:cNvPr id="29" name="Connector 28"/>
          <p:cNvCxnSpPr/>
          <p:nvPr/>
        </p:nvCxnSpPr>
        <p:spPr>
          <a:xfrm>
            <a:off x="4297680" y="5852160"/>
            <a:ext cx="228600" cy="0"/>
          </a:xfrm>
          <a:prstGeom prst="line">
            <a:avLst/>
          </a:prstGeom>
          <a:ln w="19050">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480560" y="5532120"/>
            <a:ext cx="3429000" cy="6400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709160" y="5532120"/>
            <a:ext cx="3108960" cy="640080"/>
          </a:xfrm>
          <a:prstGeom prst="rect">
            <a:avLst/>
          </a:prstGeom>
          <a:noFill/>
        </p:spPr>
        <p:txBody>
          <a:bodyPr wrap="square" lIns="0" tIns="0" rIns="0" bIns="0" anchor="ctr">
            <a:spAutoFit/>
          </a:bodyPr>
          <a:lstStyle/>
          <a:p>
            <a:pPr algn="l">
              <a:lnSpc>
                <a:spcPct val="110000"/>
              </a:lnSpc>
            </a:pPr>
            <a:r>
              <a:rPr sz="1500" b="0">
                <a:solidFill>
                  <a:srgbClr val="F0C47C"/>
                </a:solidFill>
                <a:latin typeface="Pretendard ExtraBold"/>
                <a:ea typeface="Pretendard ExtraBold"/>
                <a:cs typeface="Pretendard ExtraBold"/>
              </a:rPr>
              <a:t>기본   </a:t>
            </a:r>
            <a:r>
              <a:rPr sz="1300" b="0">
                <a:solidFill>
                  <a:srgbClr val="FBF5DE"/>
                </a:solidFill>
                <a:latin typeface="Pretendard"/>
                <a:ea typeface="Pretendard"/>
                <a:cs typeface="Pretendard"/>
              </a:rPr>
              <a:t>+ 모드 전환 · 자세</a:t>
            </a:r>
          </a:p>
        </p:txBody>
      </p:sp>
      <p:cxnSp>
        <p:nvCxnSpPr>
          <p:cNvPr id="32" name="Connector 31"/>
          <p:cNvCxnSpPr/>
          <p:nvPr/>
        </p:nvCxnSpPr>
        <p:spPr>
          <a:xfrm>
            <a:off x="7955279" y="5852160"/>
            <a:ext cx="228600" cy="0"/>
          </a:xfrm>
          <a:prstGeom prst="line">
            <a:avLst/>
          </a:prstGeom>
          <a:ln w="19050">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38160" y="5532120"/>
            <a:ext cx="3429000" cy="6400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366760" y="5532120"/>
            <a:ext cx="3108960" cy="640080"/>
          </a:xfrm>
          <a:prstGeom prst="rect">
            <a:avLst/>
          </a:prstGeom>
          <a:noFill/>
        </p:spPr>
        <p:txBody>
          <a:bodyPr wrap="square" lIns="0" tIns="0" rIns="0" bIns="0" anchor="ctr">
            <a:spAutoFit/>
          </a:bodyPr>
          <a:lstStyle/>
          <a:p>
            <a:pPr algn="l">
              <a:lnSpc>
                <a:spcPct val="110000"/>
              </a:lnSpc>
            </a:pPr>
            <a:r>
              <a:rPr sz="1500" b="0">
                <a:solidFill>
                  <a:srgbClr val="F0C47C"/>
                </a:solidFill>
                <a:latin typeface="Pretendard ExtraBold"/>
                <a:ea typeface="Pretendard ExtraBold"/>
                <a:cs typeface="Pretendard ExtraBold"/>
              </a:rPr>
              <a:t>숙련   </a:t>
            </a:r>
            <a:r>
              <a:rPr sz="1300" b="0">
                <a:solidFill>
                  <a:srgbClr val="FBF5DE"/>
                </a:solidFill>
                <a:latin typeface="Pretendard"/>
                <a:ea typeface="Pretendard"/>
                <a:cs typeface="Pretendard"/>
              </a:rPr>
              <a:t>+ 리듬 가속 · 채찍 타이밍</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4201A"/>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96012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직선은 습보, 코너는 구보</a:t>
            </a:r>
          </a:p>
        </p:txBody>
      </p:sp>
      <p:sp>
        <p:nvSpPr>
          <p:cNvPr id="3" name="TextBox 2"/>
          <p:cNvSpPr txBox="1"/>
          <p:nvPr/>
        </p:nvSpPr>
        <p:spPr>
          <a:xfrm>
            <a:off x="658368" y="1207008"/>
            <a:ext cx="9601200" cy="365760"/>
          </a:xfrm>
          <a:prstGeom prst="rect">
            <a:avLst/>
          </a:prstGeom>
          <a:noFill/>
        </p:spPr>
        <p:txBody>
          <a:bodyPr wrap="square" lIns="0" tIns="0" rIns="0" bIns="0" anchor="t">
            <a:spAutoFit/>
          </a:bodyPr>
          <a:lstStyle/>
          <a:p>
            <a:pPr algn="l">
              <a:lnSpc>
                <a:spcPct val="110000"/>
              </a:lnSpc>
            </a:pPr>
            <a:r>
              <a:rPr sz="1500" b="0">
                <a:solidFill>
                  <a:srgbClr val="F0C47C"/>
                </a:solidFill>
                <a:latin typeface="Pretendard SemiBold"/>
                <a:ea typeface="Pretendard SemiBold"/>
                <a:cs typeface="Pretendard SemiBold"/>
              </a:rPr>
              <a:t>보법 모드와 리듬 — 우리 게임만의 차별점</a:t>
            </a:r>
          </a:p>
        </p:txBody>
      </p:sp>
      <p:sp>
        <p:nvSpPr>
          <p:cNvPr id="4" name="Rounded Rectangle 3"/>
          <p:cNvSpPr/>
          <p:nvPr/>
        </p:nvSpPr>
        <p:spPr>
          <a:xfrm>
            <a:off x="9646920" y="566928"/>
            <a:ext cx="1920240" cy="36576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100" b="0">
                <a:solidFill>
                  <a:srgbClr val="F0C47C"/>
                </a:solidFill>
                <a:latin typeface="Pretendard SemiBold"/>
                <a:ea typeface="Pretendard SemiBold"/>
                <a:cs typeface="Pretendard SemiBold"/>
              </a:rPr>
              <a:t>피드백 1 대응</a:t>
            </a:r>
          </a:p>
        </p:txBody>
      </p:sp>
      <p:sp>
        <p:nvSpPr>
          <p:cNvPr id="5" name="Rounded Rectangle 4"/>
          <p:cNvSpPr/>
          <p:nvPr/>
        </p:nvSpPr>
        <p:spPr>
          <a:xfrm>
            <a:off x="822960" y="2697480"/>
            <a:ext cx="4023360" cy="384048"/>
          </a:xfrm>
          <a:prstGeom prst="roundRect">
            <a:avLst>
              <a:gd name="adj" fmla="val 50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300" b="0">
                <a:solidFill>
                  <a:srgbClr val="14201A"/>
                </a:solidFill>
                <a:latin typeface="Pretendard ExtraBold"/>
                <a:ea typeface="Pretendard ExtraBold"/>
                <a:cs typeface="Pretendard ExtraBold"/>
              </a:rPr>
              <a:t>직선  ·  습보</a:t>
            </a:r>
          </a:p>
        </p:txBody>
      </p:sp>
      <p:sp>
        <p:nvSpPr>
          <p:cNvPr id="6" name="Rounded Rectangle 5"/>
          <p:cNvSpPr/>
          <p:nvPr/>
        </p:nvSpPr>
        <p:spPr>
          <a:xfrm>
            <a:off x="4983480" y="2651760"/>
            <a:ext cx="2194560" cy="475488"/>
          </a:xfrm>
          <a:prstGeom prst="roundRect">
            <a:avLst>
              <a:gd name="adj" fmla="val 50000"/>
            </a:avLst>
          </a:prstGeom>
          <a:solidFill>
            <a:srgbClr val="7FB0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300" b="0">
                <a:solidFill>
                  <a:srgbClr val="14201A"/>
                </a:solidFill>
                <a:latin typeface="Pretendard ExtraBold"/>
                <a:ea typeface="Pretendard ExtraBold"/>
                <a:cs typeface="Pretendard ExtraBold"/>
              </a:rPr>
              <a:t>코너  ·  구보</a:t>
            </a:r>
          </a:p>
        </p:txBody>
      </p:sp>
      <p:sp>
        <p:nvSpPr>
          <p:cNvPr id="7" name="Rounded Rectangle 6"/>
          <p:cNvSpPr/>
          <p:nvPr/>
        </p:nvSpPr>
        <p:spPr>
          <a:xfrm>
            <a:off x="7315200" y="2697480"/>
            <a:ext cx="4023360" cy="384048"/>
          </a:xfrm>
          <a:prstGeom prst="roundRect">
            <a:avLst>
              <a:gd name="adj" fmla="val 50000"/>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300" b="0">
                <a:solidFill>
                  <a:srgbClr val="14201A"/>
                </a:solidFill>
                <a:latin typeface="Pretendard ExtraBold"/>
                <a:ea typeface="Pretendard ExtraBold"/>
                <a:cs typeface="Pretendard ExtraBold"/>
              </a:rPr>
              <a:t>직선  ·  습보</a:t>
            </a:r>
          </a:p>
        </p:txBody>
      </p:sp>
      <p:sp>
        <p:nvSpPr>
          <p:cNvPr id="8" name="Oval 7"/>
          <p:cNvSpPr/>
          <p:nvPr/>
        </p:nvSpPr>
        <p:spPr>
          <a:xfrm>
            <a:off x="116128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7653527"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70992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8202167"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225856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8750807"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280720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929944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335584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984808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3904487"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396728"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453127"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10945367" y="2304288"/>
            <a:ext cx="146304" cy="146304"/>
          </a:xfrm>
          <a:prstGeom prst="ellipse">
            <a:avLst/>
          </a:prstGeom>
          <a:solidFill>
            <a:srgbClr val="FBF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22960" y="1828800"/>
            <a:ext cx="4572000" cy="365760"/>
          </a:xfrm>
          <a:prstGeom prst="rect">
            <a:avLst/>
          </a:prstGeom>
          <a:noFill/>
        </p:spPr>
        <p:txBody>
          <a:bodyPr wrap="square" lIns="0" tIns="0" rIns="0" bIns="0" anchor="t">
            <a:spAutoFit/>
          </a:bodyPr>
          <a:lstStyle/>
          <a:p>
            <a:pPr algn="l">
              <a:lnSpc>
                <a:spcPct val="110000"/>
              </a:lnSpc>
            </a:pPr>
            <a:r>
              <a:rPr sz="1300" b="0">
                <a:solidFill>
                  <a:srgbClr val="FBF5DE"/>
                </a:solidFill>
                <a:latin typeface="Pretendard"/>
                <a:ea typeface="Pretendard"/>
                <a:cs typeface="Pretendard"/>
              </a:rPr>
              <a:t>♪  W를 말발굽 박자에 맞춰 누르면 리듬 가속</a:t>
            </a:r>
          </a:p>
        </p:txBody>
      </p:sp>
      <p:sp>
        <p:nvSpPr>
          <p:cNvPr id="23" name="Rounded Rectangle 22"/>
          <p:cNvSpPr/>
          <p:nvPr/>
        </p:nvSpPr>
        <p:spPr>
          <a:xfrm>
            <a:off x="822960" y="3429000"/>
            <a:ext cx="3383280" cy="237744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143000" y="3611880"/>
            <a:ext cx="2834640" cy="457200"/>
          </a:xfrm>
          <a:prstGeom prst="rect">
            <a:avLst/>
          </a:prstGeom>
          <a:noFill/>
        </p:spPr>
        <p:txBody>
          <a:bodyPr wrap="square" lIns="0" tIns="0" rIns="0" bIns="0" anchor="t">
            <a:spAutoFit/>
          </a:bodyPr>
          <a:lstStyle/>
          <a:p>
            <a:pPr algn="l">
              <a:lnSpc>
                <a:spcPct val="110000"/>
              </a:lnSpc>
            </a:pPr>
            <a:r>
              <a:rPr sz="2400" b="0">
                <a:solidFill>
                  <a:srgbClr val="F0C47C"/>
                </a:solidFill>
                <a:latin typeface="Pretendard ExtraBold"/>
                <a:ea typeface="Pretendard ExtraBold"/>
                <a:cs typeface="Pretendard ExtraBold"/>
              </a:rPr>
              <a:t>습보</a:t>
            </a:r>
          </a:p>
        </p:txBody>
      </p:sp>
      <p:sp>
        <p:nvSpPr>
          <p:cNvPr id="25" name="TextBox 24"/>
          <p:cNvSpPr txBox="1"/>
          <p:nvPr/>
        </p:nvSpPr>
        <p:spPr>
          <a:xfrm>
            <a:off x="1143000" y="4114800"/>
            <a:ext cx="2834640" cy="365760"/>
          </a:xfrm>
          <a:prstGeom prst="rect">
            <a:avLst/>
          </a:prstGeom>
          <a:noFill/>
        </p:spPr>
        <p:txBody>
          <a:bodyPr wrap="square" lIns="0" tIns="0" rIns="0" bIns="0" anchor="t">
            <a:spAutoFit/>
          </a:bodyPr>
          <a:lstStyle/>
          <a:p>
            <a:pPr algn="l">
              <a:lnSpc>
                <a:spcPct val="110000"/>
              </a:lnSpc>
            </a:pPr>
            <a:r>
              <a:rPr sz="1300" b="0">
                <a:solidFill>
                  <a:srgbClr val="B3C2AE"/>
                </a:solidFill>
                <a:latin typeface="Pretendard SemiBold"/>
                <a:ea typeface="Pretendard SemiBold"/>
                <a:cs typeface="Pretendard SemiBold"/>
              </a:rPr>
              <a:t>직선용 전력 질주</a:t>
            </a:r>
          </a:p>
        </p:txBody>
      </p:sp>
      <p:sp>
        <p:nvSpPr>
          <p:cNvPr id="26" name="TextBox 25"/>
          <p:cNvSpPr txBox="1"/>
          <p:nvPr/>
        </p:nvSpPr>
        <p:spPr>
          <a:xfrm>
            <a:off x="1143000" y="4526280"/>
            <a:ext cx="2834640" cy="1280160"/>
          </a:xfrm>
          <a:prstGeom prst="rect">
            <a:avLst/>
          </a:prstGeom>
          <a:noFill/>
        </p:spPr>
        <p:txBody>
          <a:bodyPr wrap="square" lIns="0" tIns="0" rIns="0" bIns="0" anchor="t">
            <a:spAutoFit/>
          </a:bodyPr>
          <a:lstStyle/>
          <a:p>
            <a:pPr algn="l">
              <a:lnSpc>
                <a:spcPct val="135000"/>
              </a:lnSpc>
            </a:pPr>
            <a:r>
              <a:rPr sz="1400" b="0">
                <a:solidFill>
                  <a:srgbClr val="FBF5DE"/>
                </a:solidFill>
                <a:latin typeface="Pretendard"/>
                <a:ea typeface="Pretendard"/>
                <a:cs typeface="Pretendard"/>
              </a:rPr>
              <a:t>·  최고 속도 높음</a:t>
            </a:r>
          </a:p>
          <a:p>
            <a:pPr algn="l">
              <a:lnSpc>
                <a:spcPct val="135000"/>
              </a:lnSpc>
            </a:pPr>
            <a:r>
              <a:rPr sz="1400" b="0">
                <a:solidFill>
                  <a:srgbClr val="FBF5DE"/>
                </a:solidFill>
                <a:latin typeface="Pretendard"/>
                <a:ea typeface="Pretendard"/>
                <a:cs typeface="Pretendard"/>
              </a:rPr>
              <a:t>·  회전 둔함</a:t>
            </a:r>
          </a:p>
          <a:p>
            <a:pPr algn="l">
              <a:lnSpc>
                <a:spcPct val="135000"/>
              </a:lnSpc>
            </a:pPr>
            <a:r>
              <a:rPr sz="1400" b="0">
                <a:solidFill>
                  <a:srgbClr val="FBF5DE"/>
                </a:solidFill>
                <a:latin typeface="Pretendard"/>
                <a:ea typeface="Pretendard"/>
                <a:cs typeface="Pretendard"/>
              </a:rPr>
              <a:t>·  스태미나 소모 큼</a:t>
            </a:r>
          </a:p>
        </p:txBody>
      </p:sp>
      <p:sp>
        <p:nvSpPr>
          <p:cNvPr id="27" name="Rounded Rectangle 26"/>
          <p:cNvSpPr/>
          <p:nvPr/>
        </p:nvSpPr>
        <p:spPr>
          <a:xfrm>
            <a:off x="4343400" y="3429000"/>
            <a:ext cx="3383280" cy="237744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663440" y="3611880"/>
            <a:ext cx="2834640" cy="457200"/>
          </a:xfrm>
          <a:prstGeom prst="rect">
            <a:avLst/>
          </a:prstGeom>
          <a:noFill/>
        </p:spPr>
        <p:txBody>
          <a:bodyPr wrap="square" lIns="0" tIns="0" rIns="0" bIns="0" anchor="t">
            <a:spAutoFit/>
          </a:bodyPr>
          <a:lstStyle/>
          <a:p>
            <a:pPr algn="l">
              <a:lnSpc>
                <a:spcPct val="110000"/>
              </a:lnSpc>
            </a:pPr>
            <a:r>
              <a:rPr sz="2400" b="0">
                <a:solidFill>
                  <a:srgbClr val="7FB078"/>
                </a:solidFill>
                <a:latin typeface="Pretendard ExtraBold"/>
                <a:ea typeface="Pretendard ExtraBold"/>
                <a:cs typeface="Pretendard ExtraBold"/>
              </a:rPr>
              <a:t>구보</a:t>
            </a:r>
          </a:p>
        </p:txBody>
      </p:sp>
      <p:sp>
        <p:nvSpPr>
          <p:cNvPr id="29" name="TextBox 28"/>
          <p:cNvSpPr txBox="1"/>
          <p:nvPr/>
        </p:nvSpPr>
        <p:spPr>
          <a:xfrm>
            <a:off x="4663440" y="4114800"/>
            <a:ext cx="2834640" cy="365760"/>
          </a:xfrm>
          <a:prstGeom prst="rect">
            <a:avLst/>
          </a:prstGeom>
          <a:noFill/>
        </p:spPr>
        <p:txBody>
          <a:bodyPr wrap="square" lIns="0" tIns="0" rIns="0" bIns="0" anchor="t">
            <a:spAutoFit/>
          </a:bodyPr>
          <a:lstStyle/>
          <a:p>
            <a:pPr algn="l">
              <a:lnSpc>
                <a:spcPct val="110000"/>
              </a:lnSpc>
            </a:pPr>
            <a:r>
              <a:rPr sz="1300" b="0">
                <a:solidFill>
                  <a:srgbClr val="B3C2AE"/>
                </a:solidFill>
                <a:latin typeface="Pretendard SemiBold"/>
                <a:ea typeface="Pretendard SemiBold"/>
                <a:cs typeface="Pretendard SemiBold"/>
              </a:rPr>
              <a:t>코너용 안정 주행</a:t>
            </a:r>
          </a:p>
        </p:txBody>
      </p:sp>
      <p:sp>
        <p:nvSpPr>
          <p:cNvPr id="30" name="TextBox 29"/>
          <p:cNvSpPr txBox="1"/>
          <p:nvPr/>
        </p:nvSpPr>
        <p:spPr>
          <a:xfrm>
            <a:off x="4663440" y="4526280"/>
            <a:ext cx="2834640" cy="1280160"/>
          </a:xfrm>
          <a:prstGeom prst="rect">
            <a:avLst/>
          </a:prstGeom>
          <a:noFill/>
        </p:spPr>
        <p:txBody>
          <a:bodyPr wrap="square" lIns="0" tIns="0" rIns="0" bIns="0" anchor="t">
            <a:spAutoFit/>
          </a:bodyPr>
          <a:lstStyle/>
          <a:p>
            <a:pPr algn="l">
              <a:lnSpc>
                <a:spcPct val="135000"/>
              </a:lnSpc>
            </a:pPr>
            <a:r>
              <a:rPr sz="1400" b="0">
                <a:solidFill>
                  <a:srgbClr val="FBF5DE"/>
                </a:solidFill>
                <a:latin typeface="Pretendard"/>
                <a:ea typeface="Pretendard"/>
                <a:cs typeface="Pretendard"/>
              </a:rPr>
              <a:t>·  회전 안정</a:t>
            </a:r>
          </a:p>
          <a:p>
            <a:pPr algn="l">
              <a:lnSpc>
                <a:spcPct val="135000"/>
              </a:lnSpc>
            </a:pPr>
            <a:r>
              <a:rPr sz="1400" b="0">
                <a:solidFill>
                  <a:srgbClr val="FBF5DE"/>
                </a:solidFill>
                <a:latin typeface="Pretendard"/>
                <a:ea typeface="Pretendard"/>
                <a:cs typeface="Pretendard"/>
              </a:rPr>
              <a:t>·  스태미나 절약</a:t>
            </a:r>
          </a:p>
          <a:p>
            <a:pPr algn="l">
              <a:lnSpc>
                <a:spcPct val="135000"/>
              </a:lnSpc>
            </a:pPr>
            <a:r>
              <a:rPr sz="1400" b="0">
                <a:solidFill>
                  <a:srgbClr val="FBF5DE"/>
                </a:solidFill>
                <a:latin typeface="Pretendard"/>
                <a:ea typeface="Pretendard"/>
                <a:cs typeface="Pretendard"/>
              </a:rPr>
              <a:t>·  최고 속도 낮음</a:t>
            </a:r>
          </a:p>
        </p:txBody>
      </p:sp>
      <p:sp>
        <p:nvSpPr>
          <p:cNvPr id="31" name="Rounded Rectangle 30"/>
          <p:cNvSpPr/>
          <p:nvPr/>
        </p:nvSpPr>
        <p:spPr>
          <a:xfrm>
            <a:off x="7863840" y="3429000"/>
            <a:ext cx="3383280" cy="237744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183879" y="3611880"/>
            <a:ext cx="2834640" cy="457200"/>
          </a:xfrm>
          <a:prstGeom prst="rect">
            <a:avLst/>
          </a:prstGeom>
          <a:noFill/>
        </p:spPr>
        <p:txBody>
          <a:bodyPr wrap="square" lIns="0" tIns="0" rIns="0" bIns="0" anchor="t">
            <a:spAutoFit/>
          </a:bodyPr>
          <a:lstStyle/>
          <a:p>
            <a:pPr algn="l">
              <a:lnSpc>
                <a:spcPct val="110000"/>
              </a:lnSpc>
            </a:pPr>
            <a:r>
              <a:rPr sz="2400" b="0">
                <a:solidFill>
                  <a:srgbClr val="FBF5DE"/>
                </a:solidFill>
                <a:latin typeface="Pretendard ExtraBold"/>
                <a:ea typeface="Pretendard ExtraBold"/>
                <a:cs typeface="Pretendard ExtraBold"/>
              </a:rPr>
              <a:t>리듬</a:t>
            </a:r>
          </a:p>
        </p:txBody>
      </p:sp>
      <p:sp>
        <p:nvSpPr>
          <p:cNvPr id="33" name="TextBox 32"/>
          <p:cNvSpPr txBox="1"/>
          <p:nvPr/>
        </p:nvSpPr>
        <p:spPr>
          <a:xfrm>
            <a:off x="8183879" y="4114800"/>
            <a:ext cx="2834640" cy="365760"/>
          </a:xfrm>
          <a:prstGeom prst="rect">
            <a:avLst/>
          </a:prstGeom>
          <a:noFill/>
        </p:spPr>
        <p:txBody>
          <a:bodyPr wrap="square" lIns="0" tIns="0" rIns="0" bIns="0" anchor="t">
            <a:spAutoFit/>
          </a:bodyPr>
          <a:lstStyle/>
          <a:p>
            <a:pPr algn="l">
              <a:lnSpc>
                <a:spcPct val="110000"/>
              </a:lnSpc>
            </a:pPr>
            <a:r>
              <a:rPr sz="1300" b="0">
                <a:solidFill>
                  <a:srgbClr val="B3C2AE"/>
                </a:solidFill>
                <a:latin typeface="Pretendard SemiBold"/>
                <a:ea typeface="Pretendard SemiBold"/>
                <a:cs typeface="Pretendard SemiBold"/>
              </a:rPr>
              <a:t>말과 호흡 맞추기</a:t>
            </a:r>
          </a:p>
        </p:txBody>
      </p:sp>
      <p:sp>
        <p:nvSpPr>
          <p:cNvPr id="34" name="TextBox 33"/>
          <p:cNvSpPr txBox="1"/>
          <p:nvPr/>
        </p:nvSpPr>
        <p:spPr>
          <a:xfrm>
            <a:off x="8183879" y="4526280"/>
            <a:ext cx="2834640" cy="1280160"/>
          </a:xfrm>
          <a:prstGeom prst="rect">
            <a:avLst/>
          </a:prstGeom>
          <a:noFill/>
        </p:spPr>
        <p:txBody>
          <a:bodyPr wrap="square" lIns="0" tIns="0" rIns="0" bIns="0" anchor="t">
            <a:spAutoFit/>
          </a:bodyPr>
          <a:lstStyle/>
          <a:p>
            <a:pPr algn="l">
              <a:lnSpc>
                <a:spcPct val="135000"/>
              </a:lnSpc>
            </a:pPr>
            <a:r>
              <a:rPr sz="1400" b="0">
                <a:solidFill>
                  <a:srgbClr val="FBF5DE"/>
                </a:solidFill>
                <a:latin typeface="Pretendard"/>
                <a:ea typeface="Pretendard"/>
                <a:cs typeface="Pretendard"/>
              </a:rPr>
              <a:t>·  W를 박자에 맞춰 입력</a:t>
            </a:r>
          </a:p>
          <a:p>
            <a:pPr algn="l">
              <a:lnSpc>
                <a:spcPct val="135000"/>
              </a:lnSpc>
            </a:pPr>
            <a:r>
              <a:rPr sz="1400" b="0">
                <a:solidFill>
                  <a:srgbClr val="FBF5DE"/>
                </a:solidFill>
                <a:latin typeface="Pretendard"/>
                <a:ea typeface="Pretendard"/>
                <a:cs typeface="Pretendard"/>
              </a:rPr>
              <a:t>·  스태미나 효율 · 속도 상승</a:t>
            </a:r>
          </a:p>
          <a:p>
            <a:pPr algn="l">
              <a:lnSpc>
                <a:spcPct val="135000"/>
              </a:lnSpc>
            </a:pPr>
            <a:r>
              <a:rPr sz="1400" b="0">
                <a:solidFill>
                  <a:srgbClr val="FBF5DE"/>
                </a:solidFill>
                <a:latin typeface="Pretendard"/>
                <a:ea typeface="Pretendard"/>
                <a:cs typeface="Pretendard"/>
              </a:rPr>
              <a:t>·  놓쳐도 기본 가속 유지</a:t>
            </a:r>
          </a:p>
        </p:txBody>
      </p:sp>
      <p:sp>
        <p:nvSpPr>
          <p:cNvPr id="35" name="TextBox 34"/>
          <p:cNvSpPr txBox="1"/>
          <p:nvPr/>
        </p:nvSpPr>
        <p:spPr>
          <a:xfrm>
            <a:off x="822960" y="6035040"/>
            <a:ext cx="10515600" cy="365760"/>
          </a:xfrm>
          <a:prstGeom prst="rect">
            <a:avLst/>
          </a:prstGeom>
          <a:noFill/>
        </p:spPr>
        <p:txBody>
          <a:bodyPr wrap="square" lIns="0" tIns="0" rIns="0" bIns="0" anchor="t">
            <a:spAutoFit/>
          </a:bodyPr>
          <a:lstStyle/>
          <a:p>
            <a:pPr algn="l">
              <a:lnSpc>
                <a:spcPct val="110000"/>
              </a:lnSpc>
            </a:pPr>
            <a:r>
              <a:rPr sz="1300" b="0">
                <a:solidFill>
                  <a:srgbClr val="B3C2AE"/>
                </a:solidFill>
                <a:latin typeface="Pretendard"/>
                <a:ea typeface="Pretendard"/>
                <a:cs typeface="Pretendard"/>
              </a:rPr>
              <a:t>언제 모드를 바꾸고, 얼마나 리듬을 맞추는지가 곧 실력</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trail.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640080" y="502920"/>
            <a:ext cx="96012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레이스 한 판의 흐름</a:t>
            </a:r>
          </a:p>
        </p:txBody>
      </p:sp>
      <p:cxnSp>
        <p:nvCxnSpPr>
          <p:cNvPr id="4" name="Connector 3"/>
          <p:cNvCxnSpPr/>
          <p:nvPr/>
        </p:nvCxnSpPr>
        <p:spPr>
          <a:xfrm>
            <a:off x="1280160" y="2377440"/>
            <a:ext cx="9464040" cy="0"/>
          </a:xfrm>
          <a:prstGeom prst="line">
            <a:avLst/>
          </a:prstGeom>
          <a:ln w="25400">
            <a:solidFill>
              <a:srgbClr val="F0C47C"/>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937259" y="2034540"/>
            <a:ext cx="685800" cy="6858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800" b="0">
                <a:solidFill>
                  <a:srgbClr val="14201A"/>
                </a:solidFill>
                <a:latin typeface="Pretendard ExtraBold"/>
                <a:ea typeface="Pretendard ExtraBold"/>
                <a:cs typeface="Pretendard ExtraBold"/>
              </a:rPr>
              <a:t>1</a:t>
            </a:r>
          </a:p>
        </p:txBody>
      </p:sp>
      <p:sp>
        <p:nvSpPr>
          <p:cNvPr id="6" name="TextBox 5"/>
          <p:cNvSpPr txBox="1"/>
          <p:nvPr/>
        </p:nvSpPr>
        <p:spPr>
          <a:xfrm>
            <a:off x="548640" y="2926080"/>
            <a:ext cx="1828800" cy="457200"/>
          </a:xfrm>
          <a:prstGeom prst="rect">
            <a:avLst/>
          </a:prstGeom>
          <a:noFill/>
        </p:spPr>
        <p:txBody>
          <a:bodyPr wrap="square" lIns="0" tIns="0" rIns="0" bIns="0" anchor="t">
            <a:spAutoFit/>
          </a:bodyPr>
          <a:lstStyle/>
          <a:p>
            <a:pPr algn="ctr">
              <a:lnSpc>
                <a:spcPct val="110000"/>
              </a:lnSpc>
            </a:pPr>
            <a:r>
              <a:rPr sz="2000" b="0">
                <a:solidFill>
                  <a:srgbClr val="FBF5DE"/>
                </a:solidFill>
                <a:latin typeface="Pretendard ExtraBold"/>
                <a:ea typeface="Pretendard ExtraBold"/>
                <a:cs typeface="Pretendard ExtraBold"/>
              </a:rPr>
              <a:t>출발</a:t>
            </a:r>
          </a:p>
        </p:txBody>
      </p:sp>
      <p:sp>
        <p:nvSpPr>
          <p:cNvPr id="7" name="Rounded Rectangle 6"/>
          <p:cNvSpPr/>
          <p:nvPr/>
        </p:nvSpPr>
        <p:spPr>
          <a:xfrm>
            <a:off x="411480" y="3520440"/>
            <a:ext cx="1737360" cy="1325880"/>
          </a:xfrm>
          <a:prstGeom prst="roundRect">
            <a:avLst>
              <a:gd name="adj" fmla="val 8000"/>
            </a:avLst>
          </a:prstGeom>
          <a:solidFill>
            <a:srgbClr val="14201A">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02920" y="3639312"/>
            <a:ext cx="1554480" cy="1188720"/>
          </a:xfrm>
          <a:prstGeom prst="rect">
            <a:avLst/>
          </a:prstGeom>
          <a:noFill/>
        </p:spPr>
        <p:txBody>
          <a:bodyPr wrap="square" lIns="0" tIns="0" rIns="0" bIns="0" anchor="t">
            <a:spAutoFit/>
          </a:bodyPr>
          <a:lstStyle/>
          <a:p>
            <a:pPr algn="ctr">
              <a:lnSpc>
                <a:spcPct val="130000"/>
              </a:lnSpc>
            </a:pPr>
            <a:r>
              <a:rPr sz="1250" b="0">
                <a:solidFill>
                  <a:srgbClr val="FBF5DE"/>
                </a:solidFill>
                <a:latin typeface="Pretendard"/>
                <a:ea typeface="Pretendard"/>
                <a:cs typeface="Pretendard"/>
              </a:rPr>
              <a:t>W 가속</a:t>
            </a:r>
          </a:p>
          <a:p>
            <a:pPr algn="ctr">
              <a:lnSpc>
                <a:spcPct val="130000"/>
              </a:lnSpc>
            </a:pPr>
            <a:r>
              <a:rPr sz="1250" b="0">
                <a:solidFill>
                  <a:srgbClr val="FBF5DE"/>
                </a:solidFill>
                <a:latin typeface="Pretendard"/>
                <a:ea typeface="Pretendard"/>
                <a:cs typeface="Pretendard"/>
              </a:rPr>
              <a:t>Shift 습보</a:t>
            </a:r>
          </a:p>
          <a:p>
            <a:pPr algn="ctr">
              <a:lnSpc>
                <a:spcPct val="130000"/>
              </a:lnSpc>
            </a:pPr>
            <a:r>
              <a:rPr sz="1250" b="0">
                <a:solidFill>
                  <a:srgbClr val="FBF5DE"/>
                </a:solidFill>
                <a:latin typeface="Pretendard"/>
                <a:ea typeface="Pretendard"/>
                <a:cs typeface="Pretendard"/>
              </a:rPr>
              <a:t>↑ 레이싱 자세</a:t>
            </a:r>
          </a:p>
        </p:txBody>
      </p:sp>
      <p:sp>
        <p:nvSpPr>
          <p:cNvPr id="9" name="Oval 8"/>
          <p:cNvSpPr/>
          <p:nvPr/>
        </p:nvSpPr>
        <p:spPr>
          <a:xfrm>
            <a:off x="3204972" y="2034540"/>
            <a:ext cx="685800" cy="6858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800" b="0">
                <a:solidFill>
                  <a:srgbClr val="14201A"/>
                </a:solidFill>
                <a:latin typeface="Pretendard ExtraBold"/>
                <a:ea typeface="Pretendard ExtraBold"/>
                <a:cs typeface="Pretendard ExtraBold"/>
              </a:rPr>
              <a:t>2</a:t>
            </a:r>
          </a:p>
        </p:txBody>
      </p:sp>
      <p:sp>
        <p:nvSpPr>
          <p:cNvPr id="10" name="TextBox 9"/>
          <p:cNvSpPr txBox="1"/>
          <p:nvPr/>
        </p:nvSpPr>
        <p:spPr>
          <a:xfrm>
            <a:off x="2816352" y="2926080"/>
            <a:ext cx="1828800" cy="457200"/>
          </a:xfrm>
          <a:prstGeom prst="rect">
            <a:avLst/>
          </a:prstGeom>
          <a:noFill/>
        </p:spPr>
        <p:txBody>
          <a:bodyPr wrap="square" lIns="0" tIns="0" rIns="0" bIns="0" anchor="t">
            <a:spAutoFit/>
          </a:bodyPr>
          <a:lstStyle/>
          <a:p>
            <a:pPr algn="ctr">
              <a:lnSpc>
                <a:spcPct val="110000"/>
              </a:lnSpc>
            </a:pPr>
            <a:r>
              <a:rPr sz="2000" b="0">
                <a:solidFill>
                  <a:srgbClr val="FBF5DE"/>
                </a:solidFill>
                <a:latin typeface="Pretendard ExtraBold"/>
                <a:ea typeface="Pretendard ExtraBold"/>
                <a:cs typeface="Pretendard ExtraBold"/>
              </a:rPr>
              <a:t>직선</a:t>
            </a:r>
          </a:p>
        </p:txBody>
      </p:sp>
      <p:sp>
        <p:nvSpPr>
          <p:cNvPr id="11" name="Rounded Rectangle 10"/>
          <p:cNvSpPr/>
          <p:nvPr/>
        </p:nvSpPr>
        <p:spPr>
          <a:xfrm>
            <a:off x="2679192" y="3520440"/>
            <a:ext cx="1737360" cy="1325880"/>
          </a:xfrm>
          <a:prstGeom prst="roundRect">
            <a:avLst>
              <a:gd name="adj" fmla="val 8000"/>
            </a:avLst>
          </a:prstGeom>
          <a:solidFill>
            <a:srgbClr val="14201A">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770632" y="3639312"/>
            <a:ext cx="1554480" cy="1188720"/>
          </a:xfrm>
          <a:prstGeom prst="rect">
            <a:avLst/>
          </a:prstGeom>
          <a:noFill/>
        </p:spPr>
        <p:txBody>
          <a:bodyPr wrap="square" lIns="0" tIns="0" rIns="0" bIns="0" anchor="t">
            <a:spAutoFit/>
          </a:bodyPr>
          <a:lstStyle/>
          <a:p>
            <a:pPr algn="ctr">
              <a:lnSpc>
                <a:spcPct val="130000"/>
              </a:lnSpc>
            </a:pPr>
            <a:r>
              <a:rPr sz="1250" b="0">
                <a:solidFill>
                  <a:srgbClr val="FBF5DE"/>
                </a:solidFill>
                <a:latin typeface="Pretendard"/>
                <a:ea typeface="Pretendard"/>
                <a:cs typeface="Pretendard"/>
              </a:rPr>
              <a:t>W 리듬 가속으로</a:t>
            </a:r>
          </a:p>
          <a:p>
            <a:pPr algn="ctr">
              <a:lnSpc>
                <a:spcPct val="130000"/>
              </a:lnSpc>
            </a:pPr>
            <a:r>
              <a:rPr sz="1250" b="0">
                <a:solidFill>
                  <a:srgbClr val="FBF5DE"/>
                </a:solidFill>
                <a:latin typeface="Pretendard"/>
                <a:ea typeface="Pretendard"/>
                <a:cs typeface="Pretendard"/>
              </a:rPr>
              <a:t>스태미나 절약</a:t>
            </a:r>
          </a:p>
        </p:txBody>
      </p:sp>
      <p:sp>
        <p:nvSpPr>
          <p:cNvPr id="13" name="Oval 12"/>
          <p:cNvSpPr/>
          <p:nvPr/>
        </p:nvSpPr>
        <p:spPr>
          <a:xfrm>
            <a:off x="5472683" y="2034540"/>
            <a:ext cx="685800" cy="6858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800" b="0">
                <a:solidFill>
                  <a:srgbClr val="14201A"/>
                </a:solidFill>
                <a:latin typeface="Pretendard ExtraBold"/>
                <a:ea typeface="Pretendard ExtraBold"/>
                <a:cs typeface="Pretendard ExtraBold"/>
              </a:rPr>
              <a:t>3</a:t>
            </a:r>
          </a:p>
        </p:txBody>
      </p:sp>
      <p:sp>
        <p:nvSpPr>
          <p:cNvPr id="14" name="TextBox 13"/>
          <p:cNvSpPr txBox="1"/>
          <p:nvPr/>
        </p:nvSpPr>
        <p:spPr>
          <a:xfrm>
            <a:off x="5084064" y="2926080"/>
            <a:ext cx="1828800" cy="457200"/>
          </a:xfrm>
          <a:prstGeom prst="rect">
            <a:avLst/>
          </a:prstGeom>
          <a:noFill/>
        </p:spPr>
        <p:txBody>
          <a:bodyPr wrap="square" lIns="0" tIns="0" rIns="0" bIns="0" anchor="t">
            <a:spAutoFit/>
          </a:bodyPr>
          <a:lstStyle/>
          <a:p>
            <a:pPr algn="ctr">
              <a:lnSpc>
                <a:spcPct val="110000"/>
              </a:lnSpc>
            </a:pPr>
            <a:r>
              <a:rPr sz="2000" b="0">
                <a:solidFill>
                  <a:srgbClr val="FBF5DE"/>
                </a:solidFill>
                <a:latin typeface="Pretendard ExtraBold"/>
                <a:ea typeface="Pretendard ExtraBold"/>
                <a:cs typeface="Pretendard ExtraBold"/>
              </a:rPr>
              <a:t>코너</a:t>
            </a:r>
          </a:p>
        </p:txBody>
      </p:sp>
      <p:sp>
        <p:nvSpPr>
          <p:cNvPr id="15" name="Rounded Rectangle 14"/>
          <p:cNvSpPr/>
          <p:nvPr/>
        </p:nvSpPr>
        <p:spPr>
          <a:xfrm>
            <a:off x="4946904" y="3520440"/>
            <a:ext cx="1737360" cy="1325880"/>
          </a:xfrm>
          <a:prstGeom prst="roundRect">
            <a:avLst>
              <a:gd name="adj" fmla="val 8000"/>
            </a:avLst>
          </a:prstGeom>
          <a:solidFill>
            <a:srgbClr val="14201A">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038344" y="3639312"/>
            <a:ext cx="1554480" cy="1188720"/>
          </a:xfrm>
          <a:prstGeom prst="rect">
            <a:avLst/>
          </a:prstGeom>
          <a:noFill/>
        </p:spPr>
        <p:txBody>
          <a:bodyPr wrap="square" lIns="0" tIns="0" rIns="0" bIns="0" anchor="t">
            <a:spAutoFit/>
          </a:bodyPr>
          <a:lstStyle/>
          <a:p>
            <a:pPr algn="ctr">
              <a:lnSpc>
                <a:spcPct val="130000"/>
              </a:lnSpc>
            </a:pPr>
            <a:r>
              <a:rPr sz="1250" b="0">
                <a:solidFill>
                  <a:srgbClr val="FBF5DE"/>
                </a:solidFill>
                <a:latin typeface="Pretendard"/>
                <a:ea typeface="Pretendard"/>
                <a:cs typeface="Pretendard"/>
              </a:rPr>
              <a:t>S 감속 · Shift 구보</a:t>
            </a:r>
          </a:p>
          <a:p>
            <a:pPr algn="ctr">
              <a:lnSpc>
                <a:spcPct val="130000"/>
              </a:lnSpc>
            </a:pPr>
            <a:r>
              <a:rPr sz="1250" b="0">
                <a:solidFill>
                  <a:srgbClr val="FBF5DE"/>
                </a:solidFill>
                <a:latin typeface="Pretendard"/>
                <a:ea typeface="Pretendard"/>
                <a:cs typeface="Pretendard"/>
              </a:rPr>
              <a:t>A/D + ←/→</a:t>
            </a:r>
          </a:p>
          <a:p>
            <a:pPr algn="ctr">
              <a:lnSpc>
                <a:spcPct val="130000"/>
              </a:lnSpc>
            </a:pPr>
            <a:r>
              <a:rPr sz="1250" b="0">
                <a:solidFill>
                  <a:srgbClr val="FBF5DE"/>
                </a:solidFill>
                <a:latin typeface="Pretendard"/>
                <a:ea typeface="Pretendard"/>
                <a:cs typeface="Pretendard"/>
              </a:rPr>
              <a:t>몸 기울이기</a:t>
            </a:r>
          </a:p>
        </p:txBody>
      </p:sp>
      <p:sp>
        <p:nvSpPr>
          <p:cNvPr id="17" name="Oval 16"/>
          <p:cNvSpPr/>
          <p:nvPr/>
        </p:nvSpPr>
        <p:spPr>
          <a:xfrm>
            <a:off x="7740396" y="2034540"/>
            <a:ext cx="685800" cy="6858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800" b="0">
                <a:solidFill>
                  <a:srgbClr val="14201A"/>
                </a:solidFill>
                <a:latin typeface="Pretendard ExtraBold"/>
                <a:ea typeface="Pretendard ExtraBold"/>
                <a:cs typeface="Pretendard ExtraBold"/>
              </a:rPr>
              <a:t>4</a:t>
            </a:r>
          </a:p>
        </p:txBody>
      </p:sp>
      <p:sp>
        <p:nvSpPr>
          <p:cNvPr id="18" name="TextBox 17"/>
          <p:cNvSpPr txBox="1"/>
          <p:nvPr/>
        </p:nvSpPr>
        <p:spPr>
          <a:xfrm>
            <a:off x="7351776" y="2926080"/>
            <a:ext cx="1828800" cy="457200"/>
          </a:xfrm>
          <a:prstGeom prst="rect">
            <a:avLst/>
          </a:prstGeom>
          <a:noFill/>
        </p:spPr>
        <p:txBody>
          <a:bodyPr wrap="square" lIns="0" tIns="0" rIns="0" bIns="0" anchor="t">
            <a:spAutoFit/>
          </a:bodyPr>
          <a:lstStyle/>
          <a:p>
            <a:pPr algn="ctr">
              <a:lnSpc>
                <a:spcPct val="110000"/>
              </a:lnSpc>
            </a:pPr>
            <a:r>
              <a:rPr sz="2000" b="0">
                <a:solidFill>
                  <a:srgbClr val="FBF5DE"/>
                </a:solidFill>
                <a:latin typeface="Pretendard ExtraBold"/>
                <a:ea typeface="Pretendard ExtraBold"/>
                <a:cs typeface="Pretendard ExtraBold"/>
              </a:rPr>
              <a:t>장애물</a:t>
            </a:r>
          </a:p>
        </p:txBody>
      </p:sp>
      <p:sp>
        <p:nvSpPr>
          <p:cNvPr id="19" name="Rounded Rectangle 18"/>
          <p:cNvSpPr/>
          <p:nvPr/>
        </p:nvSpPr>
        <p:spPr>
          <a:xfrm>
            <a:off x="7214616" y="3520440"/>
            <a:ext cx="1737360" cy="1325880"/>
          </a:xfrm>
          <a:prstGeom prst="roundRect">
            <a:avLst>
              <a:gd name="adj" fmla="val 8000"/>
            </a:avLst>
          </a:prstGeom>
          <a:solidFill>
            <a:srgbClr val="14201A">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306056" y="3639312"/>
            <a:ext cx="1554480" cy="1188720"/>
          </a:xfrm>
          <a:prstGeom prst="rect">
            <a:avLst/>
          </a:prstGeom>
          <a:noFill/>
        </p:spPr>
        <p:txBody>
          <a:bodyPr wrap="square" lIns="0" tIns="0" rIns="0" bIns="0" anchor="t">
            <a:spAutoFit/>
          </a:bodyPr>
          <a:lstStyle/>
          <a:p>
            <a:pPr algn="ctr">
              <a:lnSpc>
                <a:spcPct val="130000"/>
              </a:lnSpc>
            </a:pPr>
            <a:r>
              <a:rPr sz="1250" b="0">
                <a:solidFill>
                  <a:srgbClr val="FBF5DE"/>
                </a:solidFill>
                <a:latin typeface="Pretendard"/>
                <a:ea typeface="Pretendard"/>
                <a:cs typeface="Pretendard"/>
              </a:rPr>
              <a:t>기본 자세로 접근</a:t>
            </a:r>
          </a:p>
          <a:p>
            <a:pPr algn="ctr">
              <a:lnSpc>
                <a:spcPct val="130000"/>
              </a:lnSpc>
            </a:pPr>
            <a:r>
              <a:rPr sz="1250" b="0">
                <a:solidFill>
                  <a:srgbClr val="FBF5DE"/>
                </a:solidFill>
                <a:latin typeface="Pretendard"/>
                <a:ea typeface="Pretendard"/>
                <a:cs typeface="Pretendard"/>
              </a:rPr>
              <a:t>Space 점프</a:t>
            </a:r>
          </a:p>
        </p:txBody>
      </p:sp>
      <p:sp>
        <p:nvSpPr>
          <p:cNvPr id="21" name="Oval 20"/>
          <p:cNvSpPr/>
          <p:nvPr/>
        </p:nvSpPr>
        <p:spPr>
          <a:xfrm>
            <a:off x="10008108" y="2034540"/>
            <a:ext cx="685800" cy="6858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800" b="0">
                <a:solidFill>
                  <a:srgbClr val="14201A"/>
                </a:solidFill>
                <a:latin typeface="Pretendard ExtraBold"/>
                <a:ea typeface="Pretendard ExtraBold"/>
                <a:cs typeface="Pretendard ExtraBold"/>
              </a:rPr>
              <a:t>5</a:t>
            </a:r>
          </a:p>
        </p:txBody>
      </p:sp>
      <p:sp>
        <p:nvSpPr>
          <p:cNvPr id="22" name="TextBox 21"/>
          <p:cNvSpPr txBox="1"/>
          <p:nvPr/>
        </p:nvSpPr>
        <p:spPr>
          <a:xfrm>
            <a:off x="9619488" y="2926080"/>
            <a:ext cx="1828800" cy="457200"/>
          </a:xfrm>
          <a:prstGeom prst="rect">
            <a:avLst/>
          </a:prstGeom>
          <a:noFill/>
        </p:spPr>
        <p:txBody>
          <a:bodyPr wrap="square" lIns="0" tIns="0" rIns="0" bIns="0" anchor="t">
            <a:spAutoFit/>
          </a:bodyPr>
          <a:lstStyle/>
          <a:p>
            <a:pPr algn="ctr">
              <a:lnSpc>
                <a:spcPct val="110000"/>
              </a:lnSpc>
            </a:pPr>
            <a:r>
              <a:rPr sz="2000" b="0">
                <a:solidFill>
                  <a:srgbClr val="FBF5DE"/>
                </a:solidFill>
                <a:latin typeface="Pretendard ExtraBold"/>
                <a:ea typeface="Pretendard ExtraBold"/>
                <a:cs typeface="Pretendard ExtraBold"/>
              </a:rPr>
              <a:t>마지막 직선</a:t>
            </a:r>
          </a:p>
        </p:txBody>
      </p:sp>
      <p:sp>
        <p:nvSpPr>
          <p:cNvPr id="23" name="Rounded Rectangle 22"/>
          <p:cNvSpPr/>
          <p:nvPr/>
        </p:nvSpPr>
        <p:spPr>
          <a:xfrm>
            <a:off x="9482328" y="3520440"/>
            <a:ext cx="1737360" cy="1325880"/>
          </a:xfrm>
          <a:prstGeom prst="roundRect">
            <a:avLst>
              <a:gd name="adj" fmla="val 8000"/>
            </a:avLst>
          </a:prstGeom>
          <a:solidFill>
            <a:srgbClr val="14201A">
              <a:alpha val="7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573768" y="3639312"/>
            <a:ext cx="1554480" cy="1188720"/>
          </a:xfrm>
          <a:prstGeom prst="rect">
            <a:avLst/>
          </a:prstGeom>
          <a:noFill/>
        </p:spPr>
        <p:txBody>
          <a:bodyPr wrap="square" lIns="0" tIns="0" rIns="0" bIns="0" anchor="t">
            <a:spAutoFit/>
          </a:bodyPr>
          <a:lstStyle/>
          <a:p>
            <a:pPr algn="ctr">
              <a:lnSpc>
                <a:spcPct val="130000"/>
              </a:lnSpc>
            </a:pPr>
            <a:r>
              <a:rPr sz="1250" b="0">
                <a:solidFill>
                  <a:srgbClr val="FBF5DE"/>
                </a:solidFill>
                <a:latin typeface="Pretendard"/>
                <a:ea typeface="Pretendard"/>
                <a:cs typeface="Pretendard"/>
              </a:rPr>
              <a:t>습보 + 레이싱 자세</a:t>
            </a:r>
          </a:p>
          <a:p>
            <a:pPr algn="ctr">
              <a:lnSpc>
                <a:spcPct val="130000"/>
              </a:lnSpc>
            </a:pPr>
            <a:r>
              <a:rPr sz="1250" b="0">
                <a:solidFill>
                  <a:srgbClr val="FBF5DE"/>
                </a:solidFill>
                <a:latin typeface="Pretendard"/>
                <a:ea typeface="Pretendard"/>
                <a:cs typeface="Pretendard"/>
              </a:rPr>
              <a:t>Tab 채찍 추월</a:t>
            </a:r>
          </a:p>
        </p:txBody>
      </p:sp>
      <p:sp>
        <p:nvSpPr>
          <p:cNvPr id="25" name="TextBox 24"/>
          <p:cNvSpPr txBox="1"/>
          <p:nvPr/>
        </p:nvSpPr>
        <p:spPr>
          <a:xfrm>
            <a:off x="731520" y="5989320"/>
            <a:ext cx="10972800" cy="365760"/>
          </a:xfrm>
          <a:prstGeom prst="rect">
            <a:avLst/>
          </a:prstGeom>
          <a:noFill/>
        </p:spPr>
        <p:txBody>
          <a:bodyPr wrap="square" lIns="0" tIns="0" rIns="0" bIns="0" anchor="t">
            <a:spAutoFit/>
          </a:bodyPr>
          <a:lstStyle/>
          <a:p>
            <a:pPr algn="l">
              <a:lnSpc>
                <a:spcPct val="110000"/>
              </a:lnSpc>
            </a:pPr>
            <a:r>
              <a:rPr sz="1300" b="0">
                <a:solidFill>
                  <a:srgbClr val="B3C2AE"/>
                </a:solidFill>
                <a:latin typeface="Pretendard"/>
                <a:ea typeface="Pretendard"/>
                <a:cs typeface="Pretendard"/>
              </a:rPr>
              <a:t>일곱 가지 조작이 한 판 안에서 모두 의미 있게 쓰인다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4201A"/>
        </a:solidFill>
        <a:effectLst/>
      </p:bgPr>
    </p:bg>
    <p:spTree>
      <p:nvGrpSpPr>
        <p:cNvPr id="1" name=""/>
        <p:cNvGrpSpPr/>
        <p:nvPr/>
      </p:nvGrpSpPr>
      <p:grpSpPr>
        <a:xfrm>
          <a:off x="0" y="0"/>
          <a:ext cx="0" cy="0"/>
          <a:chOff x="0" y="0"/>
          <a:chExt cx="0" cy="0"/>
        </a:xfrm>
      </p:grpSpPr>
      <p:sp>
        <p:nvSpPr>
          <p:cNvPr id="2" name="Rounded Rectangle 1"/>
          <p:cNvSpPr/>
          <p:nvPr/>
        </p:nvSpPr>
        <p:spPr>
          <a:xfrm>
            <a:off x="9646920" y="566928"/>
            <a:ext cx="1920240" cy="36576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100" b="0">
                <a:solidFill>
                  <a:srgbClr val="F0C47C"/>
                </a:solidFill>
                <a:latin typeface="Pretendard SemiBold"/>
                <a:ea typeface="Pretendard SemiBold"/>
                <a:cs typeface="Pretendard SemiBold"/>
              </a:rPr>
              <a:t>피드백 4 대응</a:t>
            </a:r>
          </a:p>
        </p:txBody>
      </p:sp>
      <p:sp>
        <p:nvSpPr>
          <p:cNvPr id="3" name="TextBox 2"/>
          <p:cNvSpPr txBox="1"/>
          <p:nvPr/>
        </p:nvSpPr>
        <p:spPr>
          <a:xfrm>
            <a:off x="640080" y="502920"/>
            <a:ext cx="5486400" cy="365760"/>
          </a:xfrm>
          <a:prstGeom prst="rect">
            <a:avLst/>
          </a:prstGeom>
          <a:noFill/>
        </p:spPr>
        <p:txBody>
          <a:bodyPr wrap="square" lIns="0" tIns="0" rIns="0" bIns="0" anchor="t">
            <a:spAutoFit/>
          </a:bodyPr>
          <a:lstStyle/>
          <a:p>
            <a:pPr algn="l">
              <a:lnSpc>
                <a:spcPct val="110000"/>
              </a:lnSpc>
            </a:pPr>
            <a:r>
              <a:rPr sz="1400" b="0">
                <a:solidFill>
                  <a:srgbClr val="F0C47C"/>
                </a:solidFill>
                <a:latin typeface="Pretendard SemiBold"/>
                <a:ea typeface="Pretendard SemiBold"/>
                <a:cs typeface="Pretendard SemiBold"/>
              </a:rPr>
              <a:t>PART 2  필드 · 육성</a:t>
            </a:r>
          </a:p>
        </p:txBody>
      </p:sp>
      <p:sp>
        <p:nvSpPr>
          <p:cNvPr id="4" name="TextBox 3"/>
          <p:cNvSpPr txBox="1"/>
          <p:nvPr/>
        </p:nvSpPr>
        <p:spPr>
          <a:xfrm>
            <a:off x="640080" y="868680"/>
            <a:ext cx="91440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광활한 오픈 필드 위의 마을 3곳</a:t>
            </a:r>
          </a:p>
        </p:txBody>
      </p:sp>
      <p:pic>
        <p:nvPicPr>
          <p:cNvPr id="5" name="Picture 4" descr="필드지도.png"/>
          <p:cNvPicPr>
            <a:picLocks noChangeAspect="1"/>
          </p:cNvPicPr>
          <p:nvPr/>
        </p:nvPicPr>
        <p:blipFill>
          <a:blip r:embed="rId3"/>
          <a:stretch>
            <a:fillRect/>
          </a:stretch>
        </p:blipFill>
        <p:spPr>
          <a:xfrm>
            <a:off x="640080" y="1783080"/>
            <a:ext cx="6652259" cy="4434840"/>
          </a:xfrm>
          <a:prstGeom prst="roundRect">
            <a:avLst>
              <a:gd name="adj" fmla="val 4500"/>
            </a:avLst>
          </a:prstGeom>
        </p:spPr>
      </p:pic>
      <p:sp>
        <p:nvSpPr>
          <p:cNvPr id="6" name="Rounded Rectangle 5"/>
          <p:cNvSpPr/>
          <p:nvPr/>
        </p:nvSpPr>
        <p:spPr>
          <a:xfrm>
            <a:off x="1134998" y="2797606"/>
            <a:ext cx="1005840" cy="365760"/>
          </a:xfrm>
          <a:prstGeom prst="roundRect">
            <a:avLst>
              <a:gd name="adj" fmla="val 50000"/>
            </a:avLst>
          </a:prstGeom>
          <a:solidFill>
            <a:srgbClr val="14201A">
              <a:alpha val="78000"/>
            </a:srgbClr>
          </a:solid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200" b="0">
                <a:solidFill>
                  <a:srgbClr val="F0C47C"/>
                </a:solidFill>
                <a:latin typeface="Pretendard ExtraBold"/>
                <a:ea typeface="Pretendard ExtraBold"/>
                <a:cs typeface="Pretendard ExtraBold"/>
              </a:rPr>
              <a:t>마을 1</a:t>
            </a:r>
          </a:p>
        </p:txBody>
      </p:sp>
      <p:sp>
        <p:nvSpPr>
          <p:cNvPr id="7" name="Rounded Rectangle 6"/>
          <p:cNvSpPr/>
          <p:nvPr/>
        </p:nvSpPr>
        <p:spPr>
          <a:xfrm>
            <a:off x="3662857" y="1910638"/>
            <a:ext cx="1005840" cy="365760"/>
          </a:xfrm>
          <a:prstGeom prst="roundRect">
            <a:avLst>
              <a:gd name="adj" fmla="val 50000"/>
            </a:avLst>
          </a:prstGeom>
          <a:solidFill>
            <a:srgbClr val="14201A">
              <a:alpha val="78000"/>
            </a:srgbClr>
          </a:solid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200" b="0">
                <a:solidFill>
                  <a:srgbClr val="F0C47C"/>
                </a:solidFill>
                <a:latin typeface="Pretendard ExtraBold"/>
                <a:ea typeface="Pretendard ExtraBold"/>
                <a:cs typeface="Pretendard ExtraBold"/>
              </a:rPr>
              <a:t>마을 2</a:t>
            </a:r>
          </a:p>
        </p:txBody>
      </p:sp>
      <p:sp>
        <p:nvSpPr>
          <p:cNvPr id="8" name="Rounded Rectangle 7"/>
          <p:cNvSpPr/>
          <p:nvPr/>
        </p:nvSpPr>
        <p:spPr>
          <a:xfrm>
            <a:off x="5858103" y="4039361"/>
            <a:ext cx="1005840" cy="365760"/>
          </a:xfrm>
          <a:prstGeom prst="roundRect">
            <a:avLst>
              <a:gd name="adj" fmla="val 50000"/>
            </a:avLst>
          </a:prstGeom>
          <a:solidFill>
            <a:srgbClr val="14201A">
              <a:alpha val="78000"/>
            </a:srgbClr>
          </a:solid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200" b="0">
                <a:solidFill>
                  <a:srgbClr val="F0C47C"/>
                </a:solidFill>
                <a:latin typeface="Pretendard ExtraBold"/>
                <a:ea typeface="Pretendard ExtraBold"/>
                <a:cs typeface="Pretendard ExtraBold"/>
              </a:rPr>
              <a:t>마을 3</a:t>
            </a:r>
          </a:p>
        </p:txBody>
      </p:sp>
      <p:sp>
        <p:nvSpPr>
          <p:cNvPr id="9" name="Rounded Rectangle 8"/>
          <p:cNvSpPr/>
          <p:nvPr/>
        </p:nvSpPr>
        <p:spPr>
          <a:xfrm>
            <a:off x="7566660" y="1783080"/>
            <a:ext cx="4000500" cy="443484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840980" y="2011680"/>
            <a:ext cx="3017520" cy="365760"/>
          </a:xfrm>
          <a:prstGeom prst="rect">
            <a:avLst/>
          </a:prstGeom>
          <a:noFill/>
        </p:spPr>
        <p:txBody>
          <a:bodyPr wrap="square" lIns="0" tIns="0" rIns="0" bIns="0" anchor="t">
            <a:spAutoFit/>
          </a:bodyPr>
          <a:lstStyle/>
          <a:p>
            <a:pPr algn="l">
              <a:lnSpc>
                <a:spcPct val="110000"/>
              </a:lnSpc>
            </a:pPr>
            <a:r>
              <a:rPr sz="1800" b="0">
                <a:solidFill>
                  <a:srgbClr val="F0C47C"/>
                </a:solidFill>
                <a:latin typeface="Pretendard ExtraBold"/>
                <a:ea typeface="Pretendard ExtraBold"/>
                <a:cs typeface="Pretendard ExtraBold"/>
              </a:rPr>
              <a:t>마을 3곳</a:t>
            </a:r>
          </a:p>
        </p:txBody>
      </p:sp>
      <p:sp>
        <p:nvSpPr>
          <p:cNvPr id="11" name="TextBox 10"/>
          <p:cNvSpPr txBox="1"/>
          <p:nvPr/>
        </p:nvSpPr>
        <p:spPr>
          <a:xfrm>
            <a:off x="7840980" y="2423160"/>
            <a:ext cx="3108960" cy="365760"/>
          </a:xfrm>
          <a:prstGeom prst="rect">
            <a:avLst/>
          </a:prstGeom>
          <a:noFill/>
        </p:spPr>
        <p:txBody>
          <a:bodyPr wrap="square" lIns="0" tIns="0" rIns="0" bIns="0" anchor="t">
            <a:spAutoFit/>
          </a:bodyPr>
          <a:lstStyle/>
          <a:p>
            <a:pPr algn="l">
              <a:lnSpc>
                <a:spcPct val="110000"/>
              </a:lnSpc>
            </a:pPr>
            <a:r>
              <a:rPr sz="1350" b="0">
                <a:solidFill>
                  <a:srgbClr val="FBF5DE"/>
                </a:solidFill>
                <a:latin typeface="Pretendard"/>
                <a:ea typeface="Pretendard"/>
                <a:cs typeface="Pretendard"/>
              </a:rPr>
              <a:t>마을마다 다른 콘셉트 · 분위기</a:t>
            </a:r>
          </a:p>
        </p:txBody>
      </p:sp>
      <p:sp>
        <p:nvSpPr>
          <p:cNvPr id="12" name="TextBox 11"/>
          <p:cNvSpPr txBox="1"/>
          <p:nvPr/>
        </p:nvSpPr>
        <p:spPr>
          <a:xfrm>
            <a:off x="7840980" y="3017520"/>
            <a:ext cx="3017520" cy="365760"/>
          </a:xfrm>
          <a:prstGeom prst="rect">
            <a:avLst/>
          </a:prstGeom>
          <a:noFill/>
        </p:spPr>
        <p:txBody>
          <a:bodyPr wrap="square" lIns="0" tIns="0" rIns="0" bIns="0" anchor="t">
            <a:spAutoFit/>
          </a:bodyPr>
          <a:lstStyle/>
          <a:p>
            <a:pPr algn="l">
              <a:lnSpc>
                <a:spcPct val="110000"/>
              </a:lnSpc>
            </a:pPr>
            <a:r>
              <a:rPr sz="1800" b="0">
                <a:solidFill>
                  <a:srgbClr val="F0C47C"/>
                </a:solidFill>
                <a:latin typeface="Pretendard ExtraBold"/>
                <a:ea typeface="Pretendard ExtraBold"/>
                <a:cs typeface="Pretendard ExtraBold"/>
              </a:rPr>
              <a:t>공통 시설</a:t>
            </a:r>
          </a:p>
        </p:txBody>
      </p:sp>
      <p:sp>
        <p:nvSpPr>
          <p:cNvPr id="13" name="Rounded Rectangle 12"/>
          <p:cNvSpPr/>
          <p:nvPr/>
        </p:nvSpPr>
        <p:spPr>
          <a:xfrm>
            <a:off x="7840980" y="3474720"/>
            <a:ext cx="1680210" cy="38404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200" b="0">
                <a:solidFill>
                  <a:srgbClr val="FBF5DE"/>
                </a:solidFill>
                <a:latin typeface="Pretendard SemiBold"/>
                <a:ea typeface="Pretendard SemiBold"/>
                <a:cs typeface="Pretendard SemiBold"/>
              </a:rPr>
              <a:t>마구간</a:t>
            </a:r>
          </a:p>
        </p:txBody>
      </p:sp>
      <p:sp>
        <p:nvSpPr>
          <p:cNvPr id="14" name="Rounded Rectangle 13"/>
          <p:cNvSpPr/>
          <p:nvPr/>
        </p:nvSpPr>
        <p:spPr>
          <a:xfrm>
            <a:off x="9612630" y="3474720"/>
            <a:ext cx="1680210" cy="38404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200" b="0">
                <a:solidFill>
                  <a:srgbClr val="FBF5DE"/>
                </a:solidFill>
                <a:latin typeface="Pretendard SemiBold"/>
                <a:ea typeface="Pretendard SemiBold"/>
                <a:cs typeface="Pretendard SemiBold"/>
              </a:rPr>
              <a:t>대회장</a:t>
            </a:r>
          </a:p>
        </p:txBody>
      </p:sp>
      <p:sp>
        <p:nvSpPr>
          <p:cNvPr id="15" name="Rounded Rectangle 14"/>
          <p:cNvSpPr/>
          <p:nvPr/>
        </p:nvSpPr>
        <p:spPr>
          <a:xfrm>
            <a:off x="7840980" y="3977639"/>
            <a:ext cx="1680210" cy="38404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200" b="0">
                <a:solidFill>
                  <a:srgbClr val="FBF5DE"/>
                </a:solidFill>
                <a:latin typeface="Pretendard SemiBold"/>
                <a:ea typeface="Pretendard SemiBold"/>
                <a:cs typeface="Pretendard SemiBold"/>
              </a:rPr>
              <a:t>상점</a:t>
            </a:r>
          </a:p>
        </p:txBody>
      </p:sp>
      <p:sp>
        <p:nvSpPr>
          <p:cNvPr id="16" name="Rounded Rectangle 15"/>
          <p:cNvSpPr/>
          <p:nvPr/>
        </p:nvSpPr>
        <p:spPr>
          <a:xfrm>
            <a:off x="9612630" y="3977639"/>
            <a:ext cx="1680210" cy="38404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200" b="0">
                <a:solidFill>
                  <a:srgbClr val="FBF5DE"/>
                </a:solidFill>
                <a:latin typeface="Pretendard SemiBold"/>
                <a:ea typeface="Pretendard SemiBold"/>
                <a:cs typeface="Pretendard SemiBold"/>
              </a:rPr>
              <a:t>퀘스트 게시판</a:t>
            </a:r>
          </a:p>
        </p:txBody>
      </p:sp>
      <p:sp>
        <p:nvSpPr>
          <p:cNvPr id="17" name="TextBox 16"/>
          <p:cNvSpPr txBox="1"/>
          <p:nvPr/>
        </p:nvSpPr>
        <p:spPr>
          <a:xfrm>
            <a:off x="7840980" y="4617720"/>
            <a:ext cx="3017520" cy="365760"/>
          </a:xfrm>
          <a:prstGeom prst="rect">
            <a:avLst/>
          </a:prstGeom>
          <a:noFill/>
        </p:spPr>
        <p:txBody>
          <a:bodyPr wrap="square" lIns="0" tIns="0" rIns="0" bIns="0" anchor="t">
            <a:spAutoFit/>
          </a:bodyPr>
          <a:lstStyle/>
          <a:p>
            <a:pPr algn="l">
              <a:lnSpc>
                <a:spcPct val="110000"/>
              </a:lnSpc>
            </a:pPr>
            <a:r>
              <a:rPr sz="1800" b="0">
                <a:solidFill>
                  <a:srgbClr val="F0C47C"/>
                </a:solidFill>
                <a:latin typeface="Pretendard ExtraBold"/>
                <a:ea typeface="Pretendard ExtraBold"/>
                <a:cs typeface="Pretendard ExtraBold"/>
              </a:rPr>
              <a:t>오픈 필드</a:t>
            </a:r>
          </a:p>
        </p:txBody>
      </p:sp>
      <p:sp>
        <p:nvSpPr>
          <p:cNvPr id="18" name="TextBox 17"/>
          <p:cNvSpPr txBox="1"/>
          <p:nvPr/>
        </p:nvSpPr>
        <p:spPr>
          <a:xfrm>
            <a:off x="7840980" y="5029200"/>
            <a:ext cx="3108960" cy="1097280"/>
          </a:xfrm>
          <a:prstGeom prst="rect">
            <a:avLst/>
          </a:prstGeom>
          <a:noFill/>
        </p:spPr>
        <p:txBody>
          <a:bodyPr wrap="square" lIns="0" tIns="0" rIns="0" bIns="0" anchor="t">
            <a:spAutoFit/>
          </a:bodyPr>
          <a:lstStyle/>
          <a:p>
            <a:pPr algn="l">
              <a:lnSpc>
                <a:spcPct val="140000"/>
              </a:lnSpc>
            </a:pPr>
            <a:r>
              <a:rPr sz="1300" b="0">
                <a:solidFill>
                  <a:srgbClr val="FBF5DE"/>
                </a:solidFill>
                <a:latin typeface="Pretendard"/>
                <a:ea typeface="Pretendard"/>
                <a:cs typeface="Pretendard"/>
              </a:rPr>
              <a:t>마을 사이 어디든 자유롭게 탐험</a:t>
            </a:r>
          </a:p>
          <a:p>
            <a:pPr algn="l">
              <a:lnSpc>
                <a:spcPct val="140000"/>
              </a:lnSpc>
            </a:pPr>
            <a:r>
              <a:rPr sz="1300" b="0">
                <a:solidFill>
                  <a:srgbClr val="FBF5DE"/>
                </a:solidFill>
                <a:latin typeface="Pretendard"/>
                <a:ea typeface="Pretendard"/>
                <a:cs typeface="Pretendard"/>
              </a:rPr>
              <a:t>채집 · 점프 코스 · 숨겨진 수집품</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4201A"/>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96012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필드에서 하는 일</a:t>
            </a:r>
          </a:p>
        </p:txBody>
      </p:sp>
      <p:sp>
        <p:nvSpPr>
          <p:cNvPr id="3" name="Rounded Rectangle 2"/>
          <p:cNvSpPr/>
          <p:nvPr/>
        </p:nvSpPr>
        <p:spPr>
          <a:xfrm>
            <a:off x="9646920" y="566928"/>
            <a:ext cx="1920240" cy="36576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100" b="0">
                <a:solidFill>
                  <a:srgbClr val="F0C47C"/>
                </a:solidFill>
                <a:latin typeface="Pretendard SemiBold"/>
                <a:ea typeface="Pretendard SemiBold"/>
                <a:cs typeface="Pretendard SemiBold"/>
              </a:rPr>
              <a:t>피드백 4 · 5 대응</a:t>
            </a:r>
          </a:p>
        </p:txBody>
      </p:sp>
      <p:sp>
        <p:nvSpPr>
          <p:cNvPr id="4" name="Rounded Rectangle 3"/>
          <p:cNvSpPr/>
          <p:nvPr/>
        </p:nvSpPr>
        <p:spPr>
          <a:xfrm>
            <a:off x="640080" y="1600200"/>
            <a:ext cx="3520440" cy="38404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파밍.png"/>
          <p:cNvPicPr>
            <a:picLocks noChangeAspect="1"/>
          </p:cNvPicPr>
          <p:nvPr/>
        </p:nvPicPr>
        <p:blipFill>
          <a:blip r:embed="rId3"/>
          <a:srcRect/>
          <a:stretch>
            <a:fillRect/>
          </a:stretch>
        </p:blipFill>
        <p:spPr>
          <a:xfrm>
            <a:off x="640080" y="1600200"/>
            <a:ext cx="3520440" cy="1981300"/>
          </a:xfrm>
          <a:prstGeom prst="rect">
            <a:avLst/>
          </a:prstGeom>
        </p:spPr>
      </p:pic>
      <p:sp>
        <p:nvSpPr>
          <p:cNvPr id="6" name="TextBox 5"/>
          <p:cNvSpPr txBox="1"/>
          <p:nvPr/>
        </p:nvSpPr>
        <p:spPr>
          <a:xfrm>
            <a:off x="914400" y="3840480"/>
            <a:ext cx="3017520" cy="457200"/>
          </a:xfrm>
          <a:prstGeom prst="rect">
            <a:avLst/>
          </a:prstGeom>
          <a:noFill/>
        </p:spPr>
        <p:txBody>
          <a:bodyPr wrap="square" lIns="0" tIns="0" rIns="0" bIns="0" anchor="t">
            <a:spAutoFit/>
          </a:bodyPr>
          <a:lstStyle/>
          <a:p>
            <a:pPr algn="l">
              <a:lnSpc>
                <a:spcPct val="110000"/>
              </a:lnSpc>
            </a:pPr>
            <a:r>
              <a:rPr sz="2100" b="0">
                <a:solidFill>
                  <a:srgbClr val="F0C47C"/>
                </a:solidFill>
                <a:latin typeface="Pretendard ExtraBold"/>
                <a:ea typeface="Pretendard ExtraBold"/>
                <a:cs typeface="Pretendard ExtraBold"/>
              </a:rPr>
              <a:t>파밍</a:t>
            </a:r>
          </a:p>
        </p:txBody>
      </p:sp>
      <p:sp>
        <p:nvSpPr>
          <p:cNvPr id="7" name="TextBox 6"/>
          <p:cNvSpPr txBox="1"/>
          <p:nvPr/>
        </p:nvSpPr>
        <p:spPr>
          <a:xfrm>
            <a:off x="914400" y="4389120"/>
            <a:ext cx="3063240" cy="1463040"/>
          </a:xfrm>
          <a:prstGeom prst="rect">
            <a:avLst/>
          </a:prstGeom>
          <a:noFill/>
        </p:spPr>
        <p:txBody>
          <a:bodyPr wrap="square" lIns="0" tIns="0" rIns="0" bIns="0" anchor="t">
            <a:spAutoFit/>
          </a:bodyPr>
          <a:lstStyle/>
          <a:p>
            <a:pPr algn="l">
              <a:lnSpc>
                <a:spcPct val="140000"/>
              </a:lnSpc>
            </a:pPr>
            <a:r>
              <a:rPr sz="1350" b="0">
                <a:solidFill>
                  <a:srgbClr val="FBF5DE"/>
                </a:solidFill>
                <a:latin typeface="Pretendard"/>
                <a:ea typeface="Pretendard"/>
                <a:cs typeface="Pretendard"/>
              </a:rPr>
              <a:t>·  먹이: 과일 · 채소 · 곡물 · 견과류</a:t>
            </a:r>
          </a:p>
          <a:p>
            <a:pPr algn="l">
              <a:lnSpc>
                <a:spcPct val="140000"/>
              </a:lnSpc>
            </a:pPr>
            <a:r>
              <a:rPr sz="1350" b="0">
                <a:solidFill>
                  <a:srgbClr val="FBF5DE"/>
                </a:solidFill>
                <a:latin typeface="Pretendard"/>
                <a:ea typeface="Pretendard"/>
                <a:cs typeface="Pretendard"/>
              </a:rPr>
              <a:t>·  치장 재료: 꽃 · 깃털 · 염료 · 가죽</a:t>
            </a:r>
          </a:p>
        </p:txBody>
      </p:sp>
      <p:sp>
        <p:nvSpPr>
          <p:cNvPr id="8" name="Rounded Rectangle 7"/>
          <p:cNvSpPr/>
          <p:nvPr/>
        </p:nvSpPr>
        <p:spPr>
          <a:xfrm>
            <a:off x="4343400" y="1600200"/>
            <a:ext cx="3520440" cy="38404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점프코스.png"/>
          <p:cNvPicPr>
            <a:picLocks noChangeAspect="1"/>
          </p:cNvPicPr>
          <p:nvPr/>
        </p:nvPicPr>
        <p:blipFill>
          <a:blip r:embed="rId4"/>
          <a:srcRect/>
          <a:stretch>
            <a:fillRect/>
          </a:stretch>
        </p:blipFill>
        <p:spPr>
          <a:xfrm>
            <a:off x="4343400" y="1600200"/>
            <a:ext cx="3520440" cy="1981300"/>
          </a:xfrm>
          <a:prstGeom prst="rect">
            <a:avLst/>
          </a:prstGeom>
        </p:spPr>
      </p:pic>
      <p:sp>
        <p:nvSpPr>
          <p:cNvPr id="10" name="TextBox 9"/>
          <p:cNvSpPr txBox="1"/>
          <p:nvPr/>
        </p:nvSpPr>
        <p:spPr>
          <a:xfrm>
            <a:off x="4617720" y="3840480"/>
            <a:ext cx="3017520" cy="457200"/>
          </a:xfrm>
          <a:prstGeom prst="rect">
            <a:avLst/>
          </a:prstGeom>
          <a:noFill/>
        </p:spPr>
        <p:txBody>
          <a:bodyPr wrap="square" lIns="0" tIns="0" rIns="0" bIns="0" anchor="t">
            <a:spAutoFit/>
          </a:bodyPr>
          <a:lstStyle/>
          <a:p>
            <a:pPr algn="l">
              <a:lnSpc>
                <a:spcPct val="110000"/>
              </a:lnSpc>
            </a:pPr>
            <a:r>
              <a:rPr sz="2100" b="0">
                <a:solidFill>
                  <a:srgbClr val="F0C47C"/>
                </a:solidFill>
                <a:latin typeface="Pretendard ExtraBold"/>
                <a:ea typeface="Pretendard ExtraBold"/>
                <a:cs typeface="Pretendard ExtraBold"/>
              </a:rPr>
              <a:t>점프 코스 · 수집품</a:t>
            </a:r>
          </a:p>
        </p:txBody>
      </p:sp>
      <p:sp>
        <p:nvSpPr>
          <p:cNvPr id="11" name="TextBox 10"/>
          <p:cNvSpPr txBox="1"/>
          <p:nvPr/>
        </p:nvSpPr>
        <p:spPr>
          <a:xfrm>
            <a:off x="4617720" y="4389120"/>
            <a:ext cx="3063240" cy="1463040"/>
          </a:xfrm>
          <a:prstGeom prst="rect">
            <a:avLst/>
          </a:prstGeom>
          <a:noFill/>
        </p:spPr>
        <p:txBody>
          <a:bodyPr wrap="square" lIns="0" tIns="0" rIns="0" bIns="0" anchor="t">
            <a:spAutoFit/>
          </a:bodyPr>
          <a:lstStyle/>
          <a:p>
            <a:pPr algn="l">
              <a:lnSpc>
                <a:spcPct val="140000"/>
              </a:lnSpc>
            </a:pPr>
            <a:r>
              <a:rPr sz="1350" b="0">
                <a:solidFill>
                  <a:srgbClr val="FBF5DE"/>
                </a:solidFill>
                <a:latin typeface="Pretendard"/>
                <a:ea typeface="Pretendard"/>
                <a:cs typeface="Pretendard"/>
              </a:rPr>
              <a:t>·  필드 곳곳의 점프 코스</a:t>
            </a:r>
          </a:p>
          <a:p>
            <a:pPr algn="l">
              <a:lnSpc>
                <a:spcPct val="140000"/>
              </a:lnSpc>
            </a:pPr>
            <a:r>
              <a:rPr sz="1350" b="0">
                <a:solidFill>
                  <a:srgbClr val="FBF5DE"/>
                </a:solidFill>
                <a:latin typeface="Pretendard"/>
                <a:ea typeface="Pretendard"/>
                <a:cs typeface="Pretendard"/>
              </a:rPr>
              <a:t>·  숨겨진 말굽 문양 수집품</a:t>
            </a:r>
          </a:p>
        </p:txBody>
      </p:sp>
      <p:sp>
        <p:nvSpPr>
          <p:cNvPr id="12" name="Rounded Rectangle 11"/>
          <p:cNvSpPr/>
          <p:nvPr/>
        </p:nvSpPr>
        <p:spPr>
          <a:xfrm>
            <a:off x="8046720" y="1600200"/>
            <a:ext cx="3520440" cy="384048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퀘스트.png"/>
          <p:cNvPicPr>
            <a:picLocks noChangeAspect="1"/>
          </p:cNvPicPr>
          <p:nvPr/>
        </p:nvPicPr>
        <p:blipFill>
          <a:blip r:embed="rId5"/>
          <a:srcRect/>
          <a:stretch>
            <a:fillRect/>
          </a:stretch>
        </p:blipFill>
        <p:spPr>
          <a:xfrm>
            <a:off x="8046720" y="1600200"/>
            <a:ext cx="3520440" cy="1981300"/>
          </a:xfrm>
          <a:prstGeom prst="rect">
            <a:avLst/>
          </a:prstGeom>
        </p:spPr>
      </p:pic>
      <p:sp>
        <p:nvSpPr>
          <p:cNvPr id="14" name="TextBox 13"/>
          <p:cNvSpPr txBox="1"/>
          <p:nvPr/>
        </p:nvSpPr>
        <p:spPr>
          <a:xfrm>
            <a:off x="8321040" y="3840480"/>
            <a:ext cx="3017520" cy="457200"/>
          </a:xfrm>
          <a:prstGeom prst="rect">
            <a:avLst/>
          </a:prstGeom>
          <a:noFill/>
        </p:spPr>
        <p:txBody>
          <a:bodyPr wrap="square" lIns="0" tIns="0" rIns="0" bIns="0" anchor="t">
            <a:spAutoFit/>
          </a:bodyPr>
          <a:lstStyle/>
          <a:p>
            <a:pPr algn="l">
              <a:lnSpc>
                <a:spcPct val="110000"/>
              </a:lnSpc>
            </a:pPr>
            <a:r>
              <a:rPr sz="2100" b="0">
                <a:solidFill>
                  <a:srgbClr val="F0C47C"/>
                </a:solidFill>
                <a:latin typeface="Pretendard ExtraBold"/>
                <a:ea typeface="Pretendard ExtraBold"/>
                <a:cs typeface="Pretendard ExtraBold"/>
              </a:rPr>
              <a:t>마을 퀘스트</a:t>
            </a:r>
          </a:p>
        </p:txBody>
      </p:sp>
      <p:sp>
        <p:nvSpPr>
          <p:cNvPr id="15" name="TextBox 14"/>
          <p:cNvSpPr txBox="1"/>
          <p:nvPr/>
        </p:nvSpPr>
        <p:spPr>
          <a:xfrm>
            <a:off x="8321040" y="4389120"/>
            <a:ext cx="3063240" cy="1463040"/>
          </a:xfrm>
          <a:prstGeom prst="rect">
            <a:avLst/>
          </a:prstGeom>
          <a:noFill/>
        </p:spPr>
        <p:txBody>
          <a:bodyPr wrap="square" lIns="0" tIns="0" rIns="0" bIns="0" anchor="t">
            <a:spAutoFit/>
          </a:bodyPr>
          <a:lstStyle/>
          <a:p>
            <a:pPr algn="l">
              <a:lnSpc>
                <a:spcPct val="140000"/>
              </a:lnSpc>
            </a:pPr>
            <a:r>
              <a:rPr sz="1350" b="0">
                <a:solidFill>
                  <a:srgbClr val="FBF5DE"/>
                </a:solidFill>
                <a:latin typeface="Pretendard"/>
                <a:ea typeface="Pretendard"/>
                <a:cs typeface="Pretendard"/>
              </a:rPr>
              <a:t>·  마을에서 여러 퀘스트 수주</a:t>
            </a:r>
          </a:p>
          <a:p>
            <a:pPr algn="l">
              <a:lnSpc>
                <a:spcPct val="140000"/>
              </a:lnSpc>
            </a:pPr>
            <a:r>
              <a:rPr sz="1350" b="0">
                <a:solidFill>
                  <a:srgbClr val="FBF5DE"/>
                </a:solidFill>
                <a:latin typeface="Pretendard"/>
                <a:ea typeface="Pretendard"/>
                <a:cs typeface="Pretendard"/>
              </a:rPr>
              <a:t>·  보상: 돈 · 재료 · 아이템</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201A"/>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96012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먹이로 키우는 육성</a:t>
            </a:r>
          </a:p>
        </p:txBody>
      </p:sp>
      <p:sp>
        <p:nvSpPr>
          <p:cNvPr id="3" name="TextBox 2"/>
          <p:cNvSpPr txBox="1"/>
          <p:nvPr/>
        </p:nvSpPr>
        <p:spPr>
          <a:xfrm>
            <a:off x="658368" y="1207008"/>
            <a:ext cx="9601200" cy="365760"/>
          </a:xfrm>
          <a:prstGeom prst="rect">
            <a:avLst/>
          </a:prstGeom>
          <a:noFill/>
        </p:spPr>
        <p:txBody>
          <a:bodyPr wrap="square" lIns="0" tIns="0" rIns="0" bIns="0" anchor="t">
            <a:spAutoFit/>
          </a:bodyPr>
          <a:lstStyle/>
          <a:p>
            <a:pPr algn="l">
              <a:lnSpc>
                <a:spcPct val="110000"/>
              </a:lnSpc>
            </a:pPr>
            <a:r>
              <a:rPr sz="1500" b="0">
                <a:solidFill>
                  <a:srgbClr val="F0C47C"/>
                </a:solidFill>
                <a:latin typeface="Pretendard SemiBold"/>
                <a:ea typeface="Pretendard SemiBold"/>
                <a:cs typeface="Pretendard SemiBold"/>
              </a:rPr>
              <a:t>모든 성장은 레이스 성능으로 이어진다</a:t>
            </a:r>
          </a:p>
        </p:txBody>
      </p:sp>
      <p:sp>
        <p:nvSpPr>
          <p:cNvPr id="4" name="Rounded Rectangle 3"/>
          <p:cNvSpPr/>
          <p:nvPr/>
        </p:nvSpPr>
        <p:spPr>
          <a:xfrm>
            <a:off x="9646920" y="566928"/>
            <a:ext cx="1920240" cy="365760"/>
          </a:xfrm>
          <a:prstGeom prst="roundRect">
            <a:avLst>
              <a:gd name="adj" fmla="val 50000"/>
            </a:avLst>
          </a:prstGeom>
          <a:noFill/>
          <a:ln w="15875">
            <a:solidFill>
              <a:srgbClr val="F0C47C"/>
            </a:solid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100" b="0">
                <a:solidFill>
                  <a:srgbClr val="F0C47C"/>
                </a:solidFill>
                <a:latin typeface="Pretendard SemiBold"/>
                <a:ea typeface="Pretendard SemiBold"/>
                <a:cs typeface="Pretendard SemiBold"/>
              </a:rPr>
              <a:t>피드백 5 · 6 대응</a:t>
            </a:r>
          </a:p>
        </p:txBody>
      </p:sp>
      <p:sp>
        <p:nvSpPr>
          <p:cNvPr id="5" name="Oval 4"/>
          <p:cNvSpPr/>
          <p:nvPr/>
        </p:nvSpPr>
        <p:spPr>
          <a:xfrm>
            <a:off x="1028700" y="1943100"/>
            <a:ext cx="1143000" cy="1143000"/>
          </a:xfrm>
          <a:prstGeom prst="ellipse">
            <a:avLst/>
          </a:prstGeom>
          <a:solidFill>
            <a:srgbClr val="E87A5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700" b="0">
                <a:solidFill>
                  <a:srgbClr val="14201A"/>
                </a:solidFill>
                <a:latin typeface="Pretendard ExtraBold"/>
                <a:ea typeface="Pretendard ExtraBold"/>
                <a:cs typeface="Pretendard ExtraBold"/>
              </a:rPr>
              <a:t>과일</a:t>
            </a:r>
          </a:p>
        </p:txBody>
      </p:sp>
      <p:cxnSp>
        <p:nvCxnSpPr>
          <p:cNvPr id="6" name="Connector 5"/>
          <p:cNvCxnSpPr/>
          <p:nvPr/>
        </p:nvCxnSpPr>
        <p:spPr>
          <a:xfrm>
            <a:off x="1600200" y="3182112"/>
            <a:ext cx="0" cy="429768"/>
          </a:xfrm>
          <a:prstGeom prst="line">
            <a:avLst/>
          </a:prstGeom>
          <a:ln w="22225">
            <a:solidFill>
              <a:srgbClr val="FBF5DE"/>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14400" y="3657600"/>
            <a:ext cx="1371600" cy="56692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F0C47C"/>
                </a:solidFill>
                <a:latin typeface="Pretendard ExtraBold"/>
                <a:ea typeface="Pretendard ExtraBold"/>
                <a:cs typeface="Pretendard ExtraBold"/>
              </a:rPr>
              <a:t>속도</a:t>
            </a:r>
          </a:p>
        </p:txBody>
      </p:sp>
      <p:sp>
        <p:nvSpPr>
          <p:cNvPr id="8" name="Oval 7"/>
          <p:cNvSpPr/>
          <p:nvPr/>
        </p:nvSpPr>
        <p:spPr>
          <a:xfrm>
            <a:off x="2811780" y="1943100"/>
            <a:ext cx="1143000" cy="1143000"/>
          </a:xfrm>
          <a:prstGeom prst="ellipse">
            <a:avLst/>
          </a:prstGeom>
          <a:solidFill>
            <a:srgbClr val="E9A24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700" b="0">
                <a:solidFill>
                  <a:srgbClr val="14201A"/>
                </a:solidFill>
                <a:latin typeface="Pretendard ExtraBold"/>
                <a:ea typeface="Pretendard ExtraBold"/>
                <a:cs typeface="Pretendard ExtraBold"/>
              </a:rPr>
              <a:t>채소</a:t>
            </a:r>
          </a:p>
        </p:txBody>
      </p:sp>
      <p:cxnSp>
        <p:nvCxnSpPr>
          <p:cNvPr id="9" name="Connector 8"/>
          <p:cNvCxnSpPr/>
          <p:nvPr/>
        </p:nvCxnSpPr>
        <p:spPr>
          <a:xfrm>
            <a:off x="3383280" y="3182112"/>
            <a:ext cx="0" cy="429768"/>
          </a:xfrm>
          <a:prstGeom prst="line">
            <a:avLst/>
          </a:prstGeom>
          <a:ln w="22225">
            <a:solidFill>
              <a:srgbClr val="FBF5D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97480" y="3657600"/>
            <a:ext cx="1371600" cy="56692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F0C47C"/>
                </a:solidFill>
                <a:latin typeface="Pretendard ExtraBold"/>
                <a:ea typeface="Pretendard ExtraBold"/>
                <a:cs typeface="Pretendard ExtraBold"/>
              </a:rPr>
              <a:t>지구력</a:t>
            </a:r>
          </a:p>
        </p:txBody>
      </p:sp>
      <p:sp>
        <p:nvSpPr>
          <p:cNvPr id="11" name="Oval 10"/>
          <p:cNvSpPr/>
          <p:nvPr/>
        </p:nvSpPr>
        <p:spPr>
          <a:xfrm>
            <a:off x="4594860" y="1943100"/>
            <a:ext cx="1143000" cy="1143000"/>
          </a:xfrm>
          <a:prstGeom prst="ellipse">
            <a:avLst/>
          </a:prstGeom>
          <a:solidFill>
            <a:srgbClr val="D8C06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700" b="0">
                <a:solidFill>
                  <a:srgbClr val="14201A"/>
                </a:solidFill>
                <a:latin typeface="Pretendard ExtraBold"/>
                <a:ea typeface="Pretendard ExtraBold"/>
                <a:cs typeface="Pretendard ExtraBold"/>
              </a:rPr>
              <a:t>곡물</a:t>
            </a:r>
          </a:p>
        </p:txBody>
      </p:sp>
      <p:cxnSp>
        <p:nvCxnSpPr>
          <p:cNvPr id="12" name="Connector 11"/>
          <p:cNvCxnSpPr/>
          <p:nvPr/>
        </p:nvCxnSpPr>
        <p:spPr>
          <a:xfrm>
            <a:off x="5166360" y="3182112"/>
            <a:ext cx="0" cy="429768"/>
          </a:xfrm>
          <a:prstGeom prst="line">
            <a:avLst/>
          </a:prstGeom>
          <a:ln w="22225">
            <a:solidFill>
              <a:srgbClr val="FBF5D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80560" y="3657600"/>
            <a:ext cx="1371600" cy="56692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F0C47C"/>
                </a:solidFill>
                <a:latin typeface="Pretendard ExtraBold"/>
                <a:ea typeface="Pretendard ExtraBold"/>
                <a:cs typeface="Pretendard ExtraBold"/>
              </a:rPr>
              <a:t>순발력</a:t>
            </a:r>
          </a:p>
        </p:txBody>
      </p:sp>
      <p:sp>
        <p:nvSpPr>
          <p:cNvPr id="14" name="Oval 13"/>
          <p:cNvSpPr/>
          <p:nvPr/>
        </p:nvSpPr>
        <p:spPr>
          <a:xfrm>
            <a:off x="6377940" y="1943100"/>
            <a:ext cx="1143000" cy="1143000"/>
          </a:xfrm>
          <a:prstGeom prst="ellipse">
            <a:avLst/>
          </a:prstGeom>
          <a:solidFill>
            <a:srgbClr val="B0865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700" b="0">
                <a:solidFill>
                  <a:srgbClr val="14201A"/>
                </a:solidFill>
                <a:latin typeface="Pretendard ExtraBold"/>
                <a:ea typeface="Pretendard ExtraBold"/>
                <a:cs typeface="Pretendard ExtraBold"/>
              </a:rPr>
              <a:t>견과류</a:t>
            </a:r>
          </a:p>
        </p:txBody>
      </p:sp>
      <p:cxnSp>
        <p:nvCxnSpPr>
          <p:cNvPr id="15" name="Connector 14"/>
          <p:cNvCxnSpPr/>
          <p:nvPr/>
        </p:nvCxnSpPr>
        <p:spPr>
          <a:xfrm>
            <a:off x="6949440" y="3182112"/>
            <a:ext cx="0" cy="429768"/>
          </a:xfrm>
          <a:prstGeom prst="line">
            <a:avLst/>
          </a:prstGeom>
          <a:ln w="22225">
            <a:solidFill>
              <a:srgbClr val="FBF5D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63640" y="3657600"/>
            <a:ext cx="1371600" cy="566928"/>
          </a:xfrm>
          <a:prstGeom prst="roundRect">
            <a:avLst>
              <a:gd name="adj" fmla="val 50000"/>
            </a:avLst>
          </a:prstGeom>
          <a:solidFill>
            <a:srgbClr val="294033"/>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500" b="0">
                <a:solidFill>
                  <a:srgbClr val="F0C47C"/>
                </a:solidFill>
                <a:latin typeface="Pretendard ExtraBold"/>
                <a:ea typeface="Pretendard ExtraBold"/>
                <a:cs typeface="Pretendard ExtraBold"/>
              </a:rPr>
              <a:t>점프력</a:t>
            </a:r>
          </a:p>
        </p:txBody>
      </p:sp>
      <p:sp>
        <p:nvSpPr>
          <p:cNvPr id="17" name="Rounded Rectangle 16"/>
          <p:cNvSpPr/>
          <p:nvPr/>
        </p:nvSpPr>
        <p:spPr>
          <a:xfrm>
            <a:off x="8092440" y="1691640"/>
            <a:ext cx="3474720" cy="96012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321040" y="1691640"/>
            <a:ext cx="3108960" cy="960120"/>
          </a:xfrm>
          <a:prstGeom prst="rect">
            <a:avLst/>
          </a:prstGeom>
          <a:noFill/>
        </p:spPr>
        <p:txBody>
          <a:bodyPr wrap="square" lIns="0" tIns="0" rIns="0" bIns="0" anchor="ctr">
            <a:spAutoFit/>
          </a:bodyPr>
          <a:lstStyle/>
          <a:p>
            <a:pPr algn="l">
              <a:lnSpc>
                <a:spcPct val="110000"/>
              </a:lnSpc>
            </a:pPr>
            <a:r>
              <a:rPr sz="1500" b="0">
                <a:solidFill>
                  <a:srgbClr val="F0C47C"/>
                </a:solidFill>
                <a:latin typeface="Pretendard ExtraBold"/>
                <a:ea typeface="Pretendard ExtraBold"/>
                <a:cs typeface="Pretendard ExtraBold"/>
              </a:rPr>
              <a:t>밥 (사료)</a:t>
            </a:r>
          </a:p>
          <a:p>
            <a:pPr algn="l">
              <a:lnSpc>
                <a:spcPct val="110000"/>
              </a:lnSpc>
            </a:pPr>
            <a:r>
              <a:rPr sz="1200" b="0">
                <a:solidFill>
                  <a:srgbClr val="FBF5DE"/>
                </a:solidFill>
                <a:latin typeface="Pretendard"/>
                <a:ea typeface="Pretendard"/>
                <a:cs typeface="Pretendard"/>
              </a:rPr>
              <a:t>경험치 → 레벨업, 모든 능력치 소폭 상승</a:t>
            </a:r>
          </a:p>
        </p:txBody>
      </p:sp>
      <p:sp>
        <p:nvSpPr>
          <p:cNvPr id="19" name="Rounded Rectangle 18"/>
          <p:cNvSpPr/>
          <p:nvPr/>
        </p:nvSpPr>
        <p:spPr>
          <a:xfrm>
            <a:off x="8092440" y="2788920"/>
            <a:ext cx="3474720" cy="96012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321040" y="2788920"/>
            <a:ext cx="3108960" cy="960120"/>
          </a:xfrm>
          <a:prstGeom prst="rect">
            <a:avLst/>
          </a:prstGeom>
          <a:noFill/>
        </p:spPr>
        <p:txBody>
          <a:bodyPr wrap="square" lIns="0" tIns="0" rIns="0" bIns="0" anchor="ctr">
            <a:spAutoFit/>
          </a:bodyPr>
          <a:lstStyle/>
          <a:p>
            <a:pPr algn="l">
              <a:lnSpc>
                <a:spcPct val="110000"/>
              </a:lnSpc>
            </a:pPr>
            <a:r>
              <a:rPr sz="1500" b="0">
                <a:solidFill>
                  <a:srgbClr val="F0C47C"/>
                </a:solidFill>
                <a:latin typeface="Pretendard ExtraBold"/>
                <a:ea typeface="Pretendard ExtraBold"/>
                <a:cs typeface="Pretendard ExtraBold"/>
              </a:rPr>
              <a:t>포만감</a:t>
            </a:r>
          </a:p>
          <a:p>
            <a:pPr algn="l">
              <a:lnSpc>
                <a:spcPct val="110000"/>
              </a:lnSpc>
            </a:pPr>
            <a:r>
              <a:rPr sz="1200" b="0">
                <a:solidFill>
                  <a:srgbClr val="FBF5DE"/>
                </a:solidFill>
                <a:latin typeface="Pretendard"/>
                <a:ea typeface="Pretendard"/>
                <a:cs typeface="Pretendard"/>
              </a:rPr>
              <a:t>한 번에 먹일 수 있는 양 제한</a:t>
            </a:r>
          </a:p>
        </p:txBody>
      </p:sp>
      <p:sp>
        <p:nvSpPr>
          <p:cNvPr id="21" name="Rounded Rectangle 20"/>
          <p:cNvSpPr/>
          <p:nvPr/>
        </p:nvSpPr>
        <p:spPr>
          <a:xfrm>
            <a:off x="8092440" y="3886200"/>
            <a:ext cx="3474720" cy="96012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321040" y="3886200"/>
            <a:ext cx="3108960" cy="960120"/>
          </a:xfrm>
          <a:prstGeom prst="rect">
            <a:avLst/>
          </a:prstGeom>
          <a:noFill/>
        </p:spPr>
        <p:txBody>
          <a:bodyPr wrap="square" lIns="0" tIns="0" rIns="0" bIns="0" anchor="ctr">
            <a:spAutoFit/>
          </a:bodyPr>
          <a:lstStyle/>
          <a:p>
            <a:pPr algn="l">
              <a:lnSpc>
                <a:spcPct val="110000"/>
              </a:lnSpc>
            </a:pPr>
            <a:r>
              <a:rPr sz="1500" b="0">
                <a:solidFill>
                  <a:srgbClr val="F0C47C"/>
                </a:solidFill>
                <a:latin typeface="Pretendard ExtraBold"/>
                <a:ea typeface="Pretendard ExtraBold"/>
                <a:cs typeface="Pretendard ExtraBold"/>
              </a:rPr>
              <a:t>교배</a:t>
            </a:r>
          </a:p>
          <a:p>
            <a:pPr algn="l">
              <a:lnSpc>
                <a:spcPct val="110000"/>
              </a:lnSpc>
            </a:pPr>
            <a:r>
              <a:rPr sz="1200" b="0">
                <a:solidFill>
                  <a:srgbClr val="FBF5DE"/>
                </a:solidFill>
                <a:latin typeface="Pretendard"/>
                <a:ea typeface="Pretendard"/>
                <a:cs typeface="Pretendard"/>
              </a:rPr>
              <a:t>망아지가 부모 능력치 일부 계승</a:t>
            </a:r>
          </a:p>
        </p:txBody>
      </p:sp>
      <p:sp>
        <p:nvSpPr>
          <p:cNvPr id="23" name="Rounded Rectangle 22"/>
          <p:cNvSpPr/>
          <p:nvPr/>
        </p:nvSpPr>
        <p:spPr>
          <a:xfrm>
            <a:off x="8092440" y="4983480"/>
            <a:ext cx="3474720" cy="960120"/>
          </a:xfrm>
          <a:prstGeom prst="roundRect">
            <a:avLst>
              <a:gd name="adj" fmla="val 8000"/>
            </a:avLst>
          </a:prstGeom>
          <a:solidFill>
            <a:srgbClr val="1F31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321040" y="4983480"/>
            <a:ext cx="3108960" cy="960120"/>
          </a:xfrm>
          <a:prstGeom prst="rect">
            <a:avLst/>
          </a:prstGeom>
          <a:noFill/>
        </p:spPr>
        <p:txBody>
          <a:bodyPr wrap="square" lIns="0" tIns="0" rIns="0" bIns="0" anchor="ctr">
            <a:spAutoFit/>
          </a:bodyPr>
          <a:lstStyle/>
          <a:p>
            <a:pPr algn="l">
              <a:lnSpc>
                <a:spcPct val="110000"/>
              </a:lnSpc>
            </a:pPr>
            <a:r>
              <a:rPr sz="1500" b="0">
                <a:solidFill>
                  <a:srgbClr val="F0C47C"/>
                </a:solidFill>
                <a:latin typeface="Pretendard ExtraBold"/>
                <a:ea typeface="Pretendard ExtraBold"/>
                <a:cs typeface="Pretendard ExtraBold"/>
              </a:rPr>
              <a:t>치장</a:t>
            </a:r>
          </a:p>
          <a:p>
            <a:pPr algn="l">
              <a:lnSpc>
                <a:spcPct val="110000"/>
              </a:lnSpc>
            </a:pPr>
            <a:r>
              <a:rPr sz="1200" b="0">
                <a:solidFill>
                  <a:srgbClr val="FBF5DE"/>
                </a:solidFill>
                <a:latin typeface="Pretendard"/>
                <a:ea typeface="Pretendard"/>
                <a:cs typeface="Pretendard"/>
              </a:rPr>
              <a:t>재료로 제작, 외형만 변경</a:t>
            </a:r>
          </a:p>
        </p:txBody>
      </p:sp>
      <p:sp>
        <p:nvSpPr>
          <p:cNvPr id="25" name="TextBox 24"/>
          <p:cNvSpPr txBox="1"/>
          <p:nvPr/>
        </p:nvSpPr>
        <p:spPr>
          <a:xfrm>
            <a:off x="914400" y="4663440"/>
            <a:ext cx="6858000" cy="1097280"/>
          </a:xfrm>
          <a:prstGeom prst="rect">
            <a:avLst/>
          </a:prstGeom>
          <a:noFill/>
        </p:spPr>
        <p:txBody>
          <a:bodyPr wrap="square" lIns="0" tIns="0" rIns="0" bIns="0" anchor="t">
            <a:spAutoFit/>
          </a:bodyPr>
          <a:lstStyle/>
          <a:p>
            <a:pPr algn="l">
              <a:lnSpc>
                <a:spcPct val="135000"/>
              </a:lnSpc>
            </a:pPr>
            <a:r>
              <a:rPr sz="1500" b="0">
                <a:solidFill>
                  <a:srgbClr val="FBF5DE"/>
                </a:solidFill>
                <a:latin typeface="Pretendard"/>
                <a:ea typeface="Pretendard"/>
                <a:cs typeface="Pretendard"/>
              </a:rPr>
              <a:t>어떤 음식을 주느냐에 따라 속도형 · 지구력형 · 점프형으로</a:t>
            </a:r>
          </a:p>
          <a:p>
            <a:pPr algn="l">
              <a:lnSpc>
                <a:spcPct val="135000"/>
              </a:lnSpc>
            </a:pPr>
            <a:r>
              <a:rPr sz="1500" b="0">
                <a:solidFill>
                  <a:srgbClr val="FBF5DE"/>
                </a:solidFill>
                <a:latin typeface="Pretendard"/>
                <a:ea typeface="Pretendard"/>
                <a:cs typeface="Pretendard"/>
              </a:rPr>
              <a:t>같은 말도 다르게 키울 수 있다</a:t>
            </a:r>
          </a:p>
        </p:txBody>
      </p:sp>
      <p:sp>
        <p:nvSpPr>
          <p:cNvPr id="26" name="TextBox 25"/>
          <p:cNvSpPr txBox="1"/>
          <p:nvPr/>
        </p:nvSpPr>
        <p:spPr>
          <a:xfrm>
            <a:off x="640080" y="6080760"/>
            <a:ext cx="10972800" cy="365760"/>
          </a:xfrm>
          <a:prstGeom prst="rect">
            <a:avLst/>
          </a:prstGeom>
          <a:noFill/>
        </p:spPr>
        <p:txBody>
          <a:bodyPr wrap="square" lIns="0" tIns="0" rIns="0" bIns="0" anchor="t">
            <a:spAutoFit/>
          </a:bodyPr>
          <a:lstStyle/>
          <a:p>
            <a:pPr algn="l">
              <a:lnSpc>
                <a:spcPct val="110000"/>
              </a:lnSpc>
            </a:pPr>
            <a:r>
              <a:rPr sz="1200" b="0">
                <a:solidFill>
                  <a:srgbClr val="B3C2AE"/>
                </a:solidFill>
                <a:latin typeface="Pretendard"/>
                <a:ea typeface="Pretendard"/>
                <a:cs typeface="Pretendard"/>
              </a:rPr>
              <a:t>기수 성장 · 말 특성 · 기능 장비는 넣지 않아 레이싱에 집중</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village.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640080" y="502920"/>
            <a:ext cx="9601200" cy="731520"/>
          </a:xfrm>
          <a:prstGeom prst="rect">
            <a:avLst/>
          </a:prstGeom>
          <a:noFill/>
        </p:spPr>
        <p:txBody>
          <a:bodyPr wrap="square" lIns="0" tIns="0" rIns="0" bIns="0" anchor="t">
            <a:spAutoFit/>
          </a:bodyPr>
          <a:lstStyle/>
          <a:p>
            <a:pPr algn="l">
              <a:lnSpc>
                <a:spcPct val="110000"/>
              </a:lnSpc>
            </a:pPr>
            <a:r>
              <a:rPr sz="3400" b="0">
                <a:solidFill>
                  <a:srgbClr val="FBF5DE"/>
                </a:solidFill>
                <a:latin typeface="Pretendard ExtraBold"/>
                <a:ea typeface="Pretendard ExtraBold"/>
                <a:cs typeface="Pretendard ExtraBold"/>
              </a:rPr>
              <a:t>게임 전체 구조 — 성장 루프</a:t>
            </a:r>
          </a:p>
        </p:txBody>
      </p:sp>
      <p:sp>
        <p:nvSpPr>
          <p:cNvPr id="4" name="Oval 3"/>
          <p:cNvSpPr/>
          <p:nvPr/>
        </p:nvSpPr>
        <p:spPr>
          <a:xfrm>
            <a:off x="5298948" y="1531619"/>
            <a:ext cx="1600200" cy="16002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2200" b="0">
                <a:solidFill>
                  <a:srgbClr val="14201A"/>
                </a:solidFill>
                <a:latin typeface="Pretendard ExtraBold"/>
                <a:ea typeface="Pretendard ExtraBold"/>
                <a:cs typeface="Pretendard ExtraBold"/>
              </a:rPr>
              <a:t>필드</a:t>
            </a:r>
          </a:p>
        </p:txBody>
      </p:sp>
      <p:sp>
        <p:nvSpPr>
          <p:cNvPr id="5" name="TextBox 4"/>
          <p:cNvSpPr txBox="1"/>
          <p:nvPr/>
        </p:nvSpPr>
        <p:spPr>
          <a:xfrm>
            <a:off x="4636008" y="3227832"/>
            <a:ext cx="2926080" cy="365760"/>
          </a:xfrm>
          <a:prstGeom prst="rect">
            <a:avLst/>
          </a:prstGeom>
          <a:noFill/>
        </p:spPr>
        <p:txBody>
          <a:bodyPr wrap="square" lIns="0" tIns="0" rIns="0" bIns="0" anchor="t">
            <a:spAutoFit/>
          </a:bodyPr>
          <a:lstStyle/>
          <a:p>
            <a:pPr algn="ctr">
              <a:lnSpc>
                <a:spcPct val="110000"/>
              </a:lnSpc>
            </a:pPr>
            <a:r>
              <a:rPr sz="1300" b="0">
                <a:solidFill>
                  <a:srgbClr val="FBF5DE"/>
                </a:solidFill>
                <a:latin typeface="Pretendard SemiBold"/>
                <a:ea typeface="Pretendard SemiBold"/>
                <a:cs typeface="Pretendard SemiBold"/>
              </a:rPr>
              <a:t>파밍 · 퀘스트 · 수집품</a:t>
            </a:r>
          </a:p>
        </p:txBody>
      </p:sp>
      <p:sp>
        <p:nvSpPr>
          <p:cNvPr id="6" name="Oval 5"/>
          <p:cNvSpPr/>
          <p:nvPr/>
        </p:nvSpPr>
        <p:spPr>
          <a:xfrm>
            <a:off x="8252460" y="4000500"/>
            <a:ext cx="1600200" cy="16002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2200" b="0">
                <a:solidFill>
                  <a:srgbClr val="14201A"/>
                </a:solidFill>
                <a:latin typeface="Pretendard ExtraBold"/>
                <a:ea typeface="Pretendard ExtraBold"/>
                <a:cs typeface="Pretendard ExtraBold"/>
              </a:rPr>
              <a:t>마을</a:t>
            </a:r>
          </a:p>
        </p:txBody>
      </p:sp>
      <p:sp>
        <p:nvSpPr>
          <p:cNvPr id="7" name="TextBox 6"/>
          <p:cNvSpPr txBox="1"/>
          <p:nvPr/>
        </p:nvSpPr>
        <p:spPr>
          <a:xfrm>
            <a:off x="7589520" y="5696712"/>
            <a:ext cx="2926080" cy="365760"/>
          </a:xfrm>
          <a:prstGeom prst="rect">
            <a:avLst/>
          </a:prstGeom>
          <a:noFill/>
        </p:spPr>
        <p:txBody>
          <a:bodyPr wrap="square" lIns="0" tIns="0" rIns="0" bIns="0" anchor="t">
            <a:spAutoFit/>
          </a:bodyPr>
          <a:lstStyle/>
          <a:p>
            <a:pPr algn="ctr">
              <a:lnSpc>
                <a:spcPct val="110000"/>
              </a:lnSpc>
            </a:pPr>
            <a:r>
              <a:rPr sz="1300" b="0">
                <a:solidFill>
                  <a:srgbClr val="FBF5DE"/>
                </a:solidFill>
                <a:latin typeface="Pretendard SemiBold"/>
                <a:ea typeface="Pretendard SemiBold"/>
                <a:cs typeface="Pretendard SemiBold"/>
              </a:rPr>
              <a:t>먹이 · 치장 · 교배</a:t>
            </a:r>
          </a:p>
        </p:txBody>
      </p:sp>
      <p:sp>
        <p:nvSpPr>
          <p:cNvPr id="8" name="Oval 7"/>
          <p:cNvSpPr/>
          <p:nvPr/>
        </p:nvSpPr>
        <p:spPr>
          <a:xfrm>
            <a:off x="2336292" y="4000500"/>
            <a:ext cx="1600200" cy="1600200"/>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2200" b="0">
                <a:solidFill>
                  <a:srgbClr val="14201A"/>
                </a:solidFill>
                <a:latin typeface="Pretendard ExtraBold"/>
                <a:ea typeface="Pretendard ExtraBold"/>
                <a:cs typeface="Pretendard ExtraBold"/>
              </a:rPr>
              <a:t>레이스</a:t>
            </a:r>
          </a:p>
        </p:txBody>
      </p:sp>
      <p:sp>
        <p:nvSpPr>
          <p:cNvPr id="9" name="TextBox 8"/>
          <p:cNvSpPr txBox="1"/>
          <p:nvPr/>
        </p:nvSpPr>
        <p:spPr>
          <a:xfrm>
            <a:off x="1673352" y="5696712"/>
            <a:ext cx="2926080" cy="365760"/>
          </a:xfrm>
          <a:prstGeom prst="rect">
            <a:avLst/>
          </a:prstGeom>
          <a:noFill/>
        </p:spPr>
        <p:txBody>
          <a:bodyPr wrap="square" lIns="0" tIns="0" rIns="0" bIns="0" anchor="t">
            <a:spAutoFit/>
          </a:bodyPr>
          <a:lstStyle/>
          <a:p>
            <a:pPr algn="ctr">
              <a:lnSpc>
                <a:spcPct val="110000"/>
              </a:lnSpc>
            </a:pPr>
            <a:r>
              <a:rPr sz="1300" b="0">
                <a:solidFill>
                  <a:srgbClr val="FBF5DE"/>
                </a:solidFill>
                <a:latin typeface="Pretendard SemiBold"/>
                <a:ea typeface="Pretendard SemiBold"/>
                <a:cs typeface="Pretendard SemiBold"/>
              </a:rPr>
              <a:t>대회 · 상금</a:t>
            </a:r>
          </a:p>
        </p:txBody>
      </p:sp>
      <p:cxnSp>
        <p:nvCxnSpPr>
          <p:cNvPr id="10" name="Connector 9"/>
          <p:cNvCxnSpPr/>
          <p:nvPr/>
        </p:nvCxnSpPr>
        <p:spPr>
          <a:xfrm>
            <a:off x="6903720" y="2880360"/>
            <a:ext cx="1371600" cy="1280160"/>
          </a:xfrm>
          <a:prstGeom prst="line">
            <a:avLst/>
          </a:prstGeom>
          <a:ln w="28575">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3977639" y="4800600"/>
            <a:ext cx="4251961" cy="0"/>
          </a:xfrm>
          <a:prstGeom prst="line">
            <a:avLst/>
          </a:prstGeom>
          <a:ln w="28575">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2880360"/>
            <a:ext cx="1417320" cy="1280160"/>
          </a:xfrm>
          <a:prstGeom prst="line">
            <a:avLst/>
          </a:prstGeom>
          <a:ln w="28575">
            <a:solidFill>
              <a:srgbClr val="F0C47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818120" y="3108960"/>
            <a:ext cx="2286000" cy="365760"/>
          </a:xfrm>
          <a:prstGeom prst="rect">
            <a:avLst/>
          </a:prstGeom>
          <a:noFill/>
        </p:spPr>
        <p:txBody>
          <a:bodyPr wrap="square" lIns="0" tIns="0" rIns="0" bIns="0" anchor="t">
            <a:spAutoFit/>
          </a:bodyPr>
          <a:lstStyle/>
          <a:p>
            <a:pPr algn="l">
              <a:lnSpc>
                <a:spcPct val="110000"/>
              </a:lnSpc>
            </a:pPr>
            <a:r>
              <a:rPr sz="1200" b="0">
                <a:solidFill>
                  <a:srgbClr val="FBF5DE"/>
                </a:solidFill>
                <a:latin typeface="Pretendard"/>
                <a:ea typeface="Pretendard"/>
                <a:cs typeface="Pretendard"/>
              </a:rPr>
              <a:t>재료 · 돈</a:t>
            </a:r>
          </a:p>
        </p:txBody>
      </p:sp>
      <p:sp>
        <p:nvSpPr>
          <p:cNvPr id="14" name="TextBox 13"/>
          <p:cNvSpPr txBox="1"/>
          <p:nvPr/>
        </p:nvSpPr>
        <p:spPr>
          <a:xfrm>
            <a:off x="5120640" y="4434840"/>
            <a:ext cx="2011680" cy="365760"/>
          </a:xfrm>
          <a:prstGeom prst="rect">
            <a:avLst/>
          </a:prstGeom>
          <a:noFill/>
        </p:spPr>
        <p:txBody>
          <a:bodyPr wrap="square" lIns="0" tIns="0" rIns="0" bIns="0" anchor="t">
            <a:spAutoFit/>
          </a:bodyPr>
          <a:lstStyle/>
          <a:p>
            <a:pPr algn="ctr">
              <a:lnSpc>
                <a:spcPct val="110000"/>
              </a:lnSpc>
            </a:pPr>
            <a:r>
              <a:rPr sz="1200" b="0">
                <a:solidFill>
                  <a:srgbClr val="FBF5DE"/>
                </a:solidFill>
                <a:latin typeface="Pretendard"/>
                <a:ea typeface="Pretendard"/>
                <a:cs typeface="Pretendard"/>
              </a:rPr>
              <a:t>강해진 말</a:t>
            </a:r>
          </a:p>
        </p:txBody>
      </p:sp>
      <p:sp>
        <p:nvSpPr>
          <p:cNvPr id="15" name="TextBox 14"/>
          <p:cNvSpPr txBox="1"/>
          <p:nvPr/>
        </p:nvSpPr>
        <p:spPr>
          <a:xfrm>
            <a:off x="2057400" y="3108960"/>
            <a:ext cx="2286000" cy="365760"/>
          </a:xfrm>
          <a:prstGeom prst="rect">
            <a:avLst/>
          </a:prstGeom>
          <a:noFill/>
        </p:spPr>
        <p:txBody>
          <a:bodyPr wrap="square" lIns="0" tIns="0" rIns="0" bIns="0" anchor="t">
            <a:spAutoFit/>
          </a:bodyPr>
          <a:lstStyle/>
          <a:p>
            <a:pPr algn="r">
              <a:lnSpc>
                <a:spcPct val="110000"/>
              </a:lnSpc>
            </a:pPr>
            <a:r>
              <a:rPr sz="1200" b="0">
                <a:solidFill>
                  <a:srgbClr val="FBF5DE"/>
                </a:solidFill>
                <a:latin typeface="Pretendard"/>
                <a:ea typeface="Pretendard"/>
                <a:cs typeface="Pretendard"/>
              </a:rPr>
              <a:t>상금 · 다시 탐험</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trail.jp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822960" y="914400"/>
            <a:ext cx="7315200" cy="457200"/>
          </a:xfrm>
          <a:prstGeom prst="rect">
            <a:avLst/>
          </a:prstGeom>
          <a:noFill/>
        </p:spPr>
        <p:txBody>
          <a:bodyPr wrap="square" lIns="0" tIns="0" rIns="0" bIns="0" anchor="t">
            <a:spAutoFit/>
          </a:bodyPr>
          <a:lstStyle/>
          <a:p>
            <a:pPr algn="l">
              <a:lnSpc>
                <a:spcPct val="110000"/>
              </a:lnSpc>
            </a:pPr>
            <a:r>
              <a:rPr sz="1600" b="0">
                <a:solidFill>
                  <a:srgbClr val="F0C47C"/>
                </a:solidFill>
                <a:latin typeface="Pretendard SemiBold"/>
                <a:ea typeface="Pretendard SemiBold"/>
                <a:cs typeface="Pretendard SemiBold"/>
              </a:rPr>
              <a:t>다음 단계</a:t>
            </a:r>
          </a:p>
        </p:txBody>
      </p:sp>
      <p:sp>
        <p:nvSpPr>
          <p:cNvPr id="4" name="Oval 3"/>
          <p:cNvSpPr/>
          <p:nvPr/>
        </p:nvSpPr>
        <p:spPr>
          <a:xfrm>
            <a:off x="905256" y="1609343"/>
            <a:ext cx="566928" cy="566928"/>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1</a:t>
            </a:r>
          </a:p>
        </p:txBody>
      </p:sp>
      <p:sp>
        <p:nvSpPr>
          <p:cNvPr id="5" name="TextBox 4"/>
          <p:cNvSpPr txBox="1"/>
          <p:nvPr/>
        </p:nvSpPr>
        <p:spPr>
          <a:xfrm>
            <a:off x="1691640" y="1508760"/>
            <a:ext cx="6400800" cy="777240"/>
          </a:xfrm>
          <a:prstGeom prst="rect">
            <a:avLst/>
          </a:prstGeom>
          <a:noFill/>
        </p:spPr>
        <p:txBody>
          <a:bodyPr wrap="square" lIns="0" tIns="0" rIns="0" bIns="0" anchor="ctr">
            <a:spAutoFit/>
          </a:bodyPr>
          <a:lstStyle/>
          <a:p>
            <a:pPr algn="l">
              <a:lnSpc>
                <a:spcPct val="110000"/>
              </a:lnSpc>
            </a:pPr>
            <a:r>
              <a:rPr sz="2000" b="0">
                <a:solidFill>
                  <a:srgbClr val="FBF5DE"/>
                </a:solidFill>
                <a:latin typeface="Pretendard ExtraBold"/>
                <a:ea typeface="Pretendard ExtraBold"/>
                <a:cs typeface="Pretendard ExtraBold"/>
              </a:rPr>
              <a:t>기승 조작 프로토타입</a:t>
            </a:r>
          </a:p>
          <a:p>
            <a:pPr algn="l">
              <a:lnSpc>
                <a:spcPct val="110000"/>
              </a:lnSpc>
            </a:pPr>
            <a:r>
              <a:rPr sz="1300" b="0">
                <a:solidFill>
                  <a:srgbClr val="B3C2AE"/>
                </a:solidFill>
                <a:latin typeface="Pretendard"/>
                <a:ea typeface="Pretendard"/>
                <a:cs typeface="Pretendard"/>
              </a:rPr>
              <a:t>구보 · 습보 · 리듬 손맛 검증</a:t>
            </a:r>
          </a:p>
        </p:txBody>
      </p:sp>
      <p:sp>
        <p:nvSpPr>
          <p:cNvPr id="6" name="Oval 5"/>
          <p:cNvSpPr/>
          <p:nvPr/>
        </p:nvSpPr>
        <p:spPr>
          <a:xfrm>
            <a:off x="905256" y="2615184"/>
            <a:ext cx="566928" cy="566928"/>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2</a:t>
            </a:r>
          </a:p>
        </p:txBody>
      </p:sp>
      <p:sp>
        <p:nvSpPr>
          <p:cNvPr id="7" name="TextBox 6"/>
          <p:cNvSpPr txBox="1"/>
          <p:nvPr/>
        </p:nvSpPr>
        <p:spPr>
          <a:xfrm>
            <a:off x="1691640" y="2514600"/>
            <a:ext cx="6400800" cy="777240"/>
          </a:xfrm>
          <a:prstGeom prst="rect">
            <a:avLst/>
          </a:prstGeom>
          <a:noFill/>
        </p:spPr>
        <p:txBody>
          <a:bodyPr wrap="square" lIns="0" tIns="0" rIns="0" bIns="0" anchor="ctr">
            <a:spAutoFit/>
          </a:bodyPr>
          <a:lstStyle/>
          <a:p>
            <a:pPr algn="l">
              <a:lnSpc>
                <a:spcPct val="110000"/>
              </a:lnSpc>
            </a:pPr>
            <a:r>
              <a:rPr sz="2000" b="0">
                <a:solidFill>
                  <a:srgbClr val="FBF5DE"/>
                </a:solidFill>
                <a:latin typeface="Pretendard ExtraBold"/>
                <a:ea typeface="Pretendard ExtraBold"/>
                <a:cs typeface="Pretendard ExtraBold"/>
              </a:rPr>
              <a:t>콘텐츠 상세 설계</a:t>
            </a:r>
          </a:p>
          <a:p>
            <a:pPr algn="l">
              <a:lnSpc>
                <a:spcPct val="110000"/>
              </a:lnSpc>
            </a:pPr>
            <a:r>
              <a:rPr sz="1300" b="0">
                <a:solidFill>
                  <a:srgbClr val="B3C2AE"/>
                </a:solidFill>
                <a:latin typeface="Pretendard"/>
                <a:ea typeface="Pretendard"/>
                <a:cs typeface="Pretendard"/>
              </a:rPr>
              <a:t>마을 콘셉트 · 퀘스트 · 교배 규칙</a:t>
            </a:r>
          </a:p>
        </p:txBody>
      </p:sp>
      <p:sp>
        <p:nvSpPr>
          <p:cNvPr id="8" name="Oval 7"/>
          <p:cNvSpPr/>
          <p:nvPr/>
        </p:nvSpPr>
        <p:spPr>
          <a:xfrm>
            <a:off x="905256" y="3621024"/>
            <a:ext cx="566928" cy="566928"/>
          </a:xfrm>
          <a:prstGeom prst="ellipse">
            <a:avLst/>
          </a:prstGeom>
          <a:solidFill>
            <a:srgbClr val="F0C47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r>
              <a:rPr sz="1600" b="0">
                <a:solidFill>
                  <a:srgbClr val="14201A"/>
                </a:solidFill>
                <a:latin typeface="Pretendard ExtraBold"/>
                <a:ea typeface="Pretendard ExtraBold"/>
                <a:cs typeface="Pretendard ExtraBold"/>
              </a:rPr>
              <a:t>3</a:t>
            </a:r>
          </a:p>
        </p:txBody>
      </p:sp>
      <p:sp>
        <p:nvSpPr>
          <p:cNvPr id="9" name="TextBox 8"/>
          <p:cNvSpPr txBox="1"/>
          <p:nvPr/>
        </p:nvSpPr>
        <p:spPr>
          <a:xfrm>
            <a:off x="1691640" y="3520440"/>
            <a:ext cx="6400800" cy="777240"/>
          </a:xfrm>
          <a:prstGeom prst="rect">
            <a:avLst/>
          </a:prstGeom>
          <a:noFill/>
        </p:spPr>
        <p:txBody>
          <a:bodyPr wrap="square" lIns="0" tIns="0" rIns="0" bIns="0" anchor="ctr">
            <a:spAutoFit/>
          </a:bodyPr>
          <a:lstStyle/>
          <a:p>
            <a:pPr algn="l">
              <a:lnSpc>
                <a:spcPct val="110000"/>
              </a:lnSpc>
            </a:pPr>
            <a:r>
              <a:rPr sz="2000" b="0">
                <a:solidFill>
                  <a:srgbClr val="FBF5DE"/>
                </a:solidFill>
                <a:latin typeface="Pretendard ExtraBold"/>
                <a:ea typeface="Pretendard ExtraBold"/>
                <a:cs typeface="Pretendard ExtraBold"/>
              </a:rPr>
              <a:t>아트 방향 수립</a:t>
            </a:r>
          </a:p>
          <a:p>
            <a:pPr algn="l">
              <a:lnSpc>
                <a:spcPct val="110000"/>
              </a:lnSpc>
            </a:pPr>
            <a:r>
              <a:rPr sz="1300" b="0">
                <a:solidFill>
                  <a:srgbClr val="B3C2AE"/>
                </a:solidFill>
                <a:latin typeface="Pretendard"/>
                <a:ea typeface="Pretendard"/>
                <a:cs typeface="Pretendard"/>
              </a:rPr>
              <a:t>말 모델링 · 배경 퀄리티</a:t>
            </a:r>
          </a:p>
        </p:txBody>
      </p:sp>
      <p:sp>
        <p:nvSpPr>
          <p:cNvPr id="10" name="TextBox 9"/>
          <p:cNvSpPr txBox="1"/>
          <p:nvPr/>
        </p:nvSpPr>
        <p:spPr>
          <a:xfrm>
            <a:off x="822960" y="4937760"/>
            <a:ext cx="10058400" cy="914400"/>
          </a:xfrm>
          <a:prstGeom prst="rect">
            <a:avLst/>
          </a:prstGeom>
          <a:noFill/>
        </p:spPr>
        <p:txBody>
          <a:bodyPr wrap="square" lIns="0" tIns="0" rIns="0" bIns="0" anchor="t">
            <a:spAutoFit/>
          </a:bodyPr>
          <a:lstStyle/>
          <a:p>
            <a:pPr algn="l">
              <a:lnSpc>
                <a:spcPct val="110000"/>
              </a:lnSpc>
            </a:pPr>
            <a:r>
              <a:rPr sz="4400" b="0">
                <a:solidFill>
                  <a:srgbClr val="FBF5DE"/>
                </a:solidFill>
                <a:latin typeface="Pretendard ExtraBold"/>
                <a:ea typeface="Pretendard ExtraBold"/>
                <a:cs typeface="Pretendard ExtraBold"/>
              </a:rPr>
              <a:t>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1123</Words>
  <Application>Microsoft Office PowerPoint</Application>
  <PresentationFormat>와이드스크린</PresentationFormat>
  <Paragraphs>215</Paragraphs>
  <Slides>11</Slides>
  <Notes>11</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11</vt:i4>
      </vt:variant>
    </vt:vector>
  </HeadingPairs>
  <TitlesOfParts>
    <vt:vector size="17" baseType="lpstr">
      <vt:lpstr>Calibri</vt:lpstr>
      <vt:lpstr>Pretendard ExtraBold</vt:lpstr>
      <vt:lpstr>Pretendard</vt:lpstr>
      <vt:lpstr>Pretendard SemiBold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김경준(2022184005)</cp:lastModifiedBy>
  <cp:revision>2</cp:revision>
  <dcterms:created xsi:type="dcterms:W3CDTF">2013-01-27T09:14:16Z</dcterms:created>
  <dcterms:modified xsi:type="dcterms:W3CDTF">2026-10-25T16:37:28Z</dcterms:modified>
  <cp:category/>
</cp:coreProperties>
</file>