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retendard" panose="02000503000000020004" pitchFamily="2" charset="-127"/>
      <p:regular r:id="rId15"/>
      <p:bold r:id="rId16"/>
    </p:embeddedFont>
    <p:embeddedFont>
      <p:font typeface="Pretendard ExtraBold" panose="02000903000000020004" pitchFamily="2" charset="-127"/>
      <p:bold r:id="rId17"/>
    </p:embeddedFont>
    <p:embeddedFont>
      <p:font typeface="Pretendard SemiBold" panose="02000703000000020004" pitchFamily="2" charset="-12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862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지난 발표에서 받은 피드백을 바탕으로 게임 기획을 수정했습니다. 오늘은 무엇을 바꾸고 무엇을 더했는지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교수님께서 주신 피드백을 크게 네 가지로 정리했고, 각각 이렇게 답을 준비했습니다. 아트 관련 피드백은 이후 아트 방향을 세우면서 반영하겠습니다.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 승마에서 기수는 말을 직접 움직이지 않고 고삐, 다리, 몸으로 신호를 보냅니다. 저희 게임의 조작도 이 구조를 따릅니다. 플레이어의 입력은 말에게 보내는 신호이고, 말은 스태미나와 능력치에 따라 반응합니다.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 승마의 부조 기술을 일곱 가지 조작으로 옮겼습니다. 고삐, 다리, 자세, 보법, 리듬, 점프, 채찍입니다. 이 중 보법과 리듬이 일반 레이싱 게임과 가장 다른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직선에서는 빠른 습보로, 코너 전에는 안정적인 구보로 모드를 바꿉니다. 습보로 코너에 들어가면 밀려납니다. 또 W를 말발굽 박자에 맞춰 누르면 스태미나를 아끼면서 더 빨리 달릴 수 있습니다. 말과 호흡을 맞추는 감각을 손으로 느끼게 하는 것이 목표입니다.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왼손으로는 말을 다룹니다. W와 S로 가속과 감속, A와 D로 방향, Shift로 보법 전환, Space로 점프, Tab으로 채찍입니다. 오른손은 기수의 몸입니다. 위 방향키를 누르고 있으면 몸을 숙인 레이싱 자세, 좌우 방향키는 몸을 기울여 코너를 돕습니다. 처음에는 가속, 방향, 점프만으로도 충분히 탈 수 있게 단계별로 익힙니다.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 레이스 한 판은 이렇게 흘러갑니다. 출발해서 습보로 올리고, 직선에서는 리듬으로 체력을 아끼고, 코너 전에는 구보로 내려 몸을 기울여 돕니다. 장애물은 점프로 넘고, 마지막 직선에서 아껴둔 채찍으로 추월합니다.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규모를 키우기 위해 오픈 필드를 추가했습니다. 콘셉트가 다른 마을 세 곳이 필드로 이어지고, 마을마다 마구간, 대회장, 상점, 퀘스트 게시판이 있습니다. 필드에서는 레이스와 달리 조작을 단순하게 해서 편하게 돌아다니는 탐험 공간으로 구분했습니다.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필드에서는 세 가지를 합니다. 먹이와 치장 재료를 채집하고, 점프 코스를 넘어 숨겨진 수집품을 찾고, 마을에서 받은 퀘스트를 수행해 보상을 얻습니다.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육성은 먹이로 합니다. 밥을 먹이면 레벨이 올라 전체 능력치가 오르고, 과일은 속도, 채소는 지구력, 곡물은 순발력, 견과류는 점프력을 올립니다. 포만감으로 한 번에 먹일 수 있는 양을 제한합니다. RPG 요소가 레이싱을 흐리지 않도록 모든 성장이 레이스 성능으로만 이어지게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정리하면 필드에서 재료와 돈을 모으고, 마을에서 말을 키우고 꾸미고, 강해진 말로 레이스에 나가 상금을 받아 다시 필드로 나가는 구조입니다.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앞으로는 기승 조작 프로토타입으로 손맛을 먼저 검증하고, 마을 콘셉트와 퀘스트 같은 콘텐츠를 상세 설계하고, 아트 방향을 세우겠습니다.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it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914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졸업작품 기획 · 피드백 반영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858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피드백 반영</a:t>
            </a:r>
          </a:p>
          <a:p>
            <a:pPr algn="l">
              <a:lnSpc>
                <a:spcPct val="105000"/>
              </a:lnSpc>
            </a:pPr>
            <a:r>
              <a:rPr sz="5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수정 기획안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290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승마 레이싱 &amp; 육성 RPG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김경준  ·  정진영  ·  강석주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받은 피드백과 우리의 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3C2AE"/>
                </a:solidFill>
                <a:latin typeface="Pretendard SemiBold"/>
                <a:ea typeface="Pretendard SemiBold"/>
                <a:cs typeface="Pretendard SemiBold"/>
              </a:rPr>
              <a:t>피드백  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말 레이싱 그 이상도 이하도 아니다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532120" y="2057400"/>
            <a:ext cx="731520" cy="0"/>
          </a:xfrm>
          <a:prstGeom prst="line">
            <a:avLst/>
          </a:prstGeom>
          <a:ln w="28575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400800" y="1600200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94033"/>
          </a:solidFill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60020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기승 조작 시스템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실제 승마 기술을 조작으로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9191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679191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3C2AE"/>
                </a:solidFill>
                <a:latin typeface="Pretendard SemiBold"/>
                <a:ea typeface="Pretendard SemiBold"/>
                <a:cs typeface="Pretendard SemiBold"/>
              </a:rPr>
              <a:t>피드백  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기수는 어떤 조작을 하는가?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3136391"/>
            <a:ext cx="731520" cy="0"/>
          </a:xfrm>
          <a:prstGeom prst="line">
            <a:avLst/>
          </a:prstGeom>
          <a:ln w="28575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2679191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94033"/>
          </a:solidFill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2679191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7가지 승마 조작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고삐 · 다리 · 자세 · 보법 · 리듬 · 점프 · 채찍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58183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758183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3C2AE"/>
                </a:solidFill>
                <a:latin typeface="Pretendard SemiBold"/>
                <a:ea typeface="Pretendard SemiBold"/>
                <a:cs typeface="Pretendard SemiBold"/>
              </a:rPr>
              <a:t>피드백  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게임의 규모가 너무 작다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32120" y="4215383"/>
            <a:ext cx="731520" cy="0"/>
          </a:xfrm>
          <a:prstGeom prst="line">
            <a:avLst/>
          </a:prstGeom>
          <a:ln w="28575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3758183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94033"/>
          </a:solidFill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3758183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오픈 필드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마을 3곳 + 필드 + 퀘스트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37175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837175"/>
            <a:ext cx="4389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B3C2AE"/>
                </a:solidFill>
                <a:latin typeface="Pretendard SemiBold"/>
                <a:ea typeface="Pretendard SemiBold"/>
                <a:cs typeface="Pretendard SemiBold"/>
              </a:rPr>
              <a:t>피드백  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RPG가 미흡하다 · 적정선을 찾아라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532120" y="5294375"/>
            <a:ext cx="731520" cy="0"/>
          </a:xfrm>
          <a:prstGeom prst="line">
            <a:avLst/>
          </a:prstGeom>
          <a:ln w="28575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00800" y="4837175"/>
            <a:ext cx="5166360" cy="914400"/>
          </a:xfrm>
          <a:prstGeom prst="roundRect">
            <a:avLst>
              <a:gd name="adj" fmla="val 8000"/>
            </a:avLst>
          </a:prstGeom>
          <a:solidFill>
            <a:srgbClr val="294033"/>
          </a:solidFill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4837175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먹이 육성 시스템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모든 성장은 레이스 성능으로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* 아트 관련 피드백(말 모델링 · 배경 퀄리티)은 추후 아트 방향 수립 시 반영 예정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장 수정본.png"/>
          <p:cNvPicPr>
            <a:picLocks noChangeAspect="1"/>
          </p:cNvPicPr>
          <p:nvPr/>
        </p:nvPicPr>
        <p:blipFill>
          <a:blip r:embed="rId3"/>
          <a:srcRect l="26989" r="26989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solidFill>
            <a:srgbClr val="14201A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46920" y="566928"/>
            <a:ext cx="192024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피드백 1 · 2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PART 1  기승 조작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760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말은 탈것이 아니라,</a:t>
            </a:r>
          </a:p>
          <a:p>
            <a:pPr algn="l">
              <a:lnSpc>
                <a:spcPct val="108000"/>
              </a:lnSpc>
            </a:pPr>
            <a:r>
              <a:rPr sz="4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신호를 주고받는</a:t>
            </a:r>
          </a:p>
          <a:p>
            <a:pPr algn="l">
              <a:lnSpc>
                <a:spcPct val="108000"/>
              </a:lnSpc>
            </a:pPr>
            <a:r>
              <a:rPr sz="4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파트너다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434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29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16916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입력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플레이어의 신호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4914900"/>
            <a:ext cx="274321" cy="0"/>
          </a:xfrm>
          <a:prstGeom prst="line">
            <a:avLst/>
          </a:prstGeom>
          <a:ln w="28575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97480" y="43434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4343400"/>
            <a:ext cx="16916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말의 상태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14201A"/>
                </a:solidFill>
                <a:latin typeface="Pretendard"/>
                <a:ea typeface="Pretendard"/>
                <a:cs typeface="Pretendard"/>
              </a:rPr>
              <a:t>스태미나 · 능력치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4914900"/>
            <a:ext cx="274320" cy="0"/>
          </a:xfrm>
          <a:prstGeom prst="line">
            <a:avLst/>
          </a:prstGeom>
          <a:ln w="28575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80" y="434340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29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4343400"/>
            <a:ext cx="16916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움직임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속도 · 회전 · 점프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같은 조작이라도 말의 상태에 따라 결과가 달라진다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실제 승마 기술을 게임으로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7가지 기승 조작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66928"/>
            <a:ext cx="192024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피드백 2 대응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59536" y="2048255"/>
            <a:ext cx="566928" cy="566928"/>
          </a:xfrm>
          <a:prstGeom prst="ellipse">
            <a:avLst/>
          </a:prstGeom>
          <a:solidFill>
            <a:srgbClr val="7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고삐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방향 전환 · 감속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648456" y="2048255"/>
            <a:ext cx="566928" cy="566928"/>
          </a:xfrm>
          <a:prstGeom prst="ellipse">
            <a:avLst/>
          </a:prstGeom>
          <a:solidFill>
            <a:srgbClr val="7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7432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다리(박차)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2004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가속, 스태미나 소모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7376" y="2048255"/>
            <a:ext cx="566928" cy="566928"/>
          </a:xfrm>
          <a:prstGeom prst="ellipse">
            <a:avLst/>
          </a:prstGeom>
          <a:solidFill>
            <a:srgbClr val="7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432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자세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코너링 · 최고 속도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828800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294033"/>
          </a:solidFill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26296" y="2048255"/>
            <a:ext cx="566928" cy="566928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7432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보법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2004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구보 / 습보 모드 전환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29968" y="397763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294033"/>
          </a:solidFill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/>
          <p:cNvSpPr/>
          <p:nvPr/>
        </p:nvSpPr>
        <p:spPr>
          <a:xfrm>
            <a:off x="2249424" y="4197096"/>
            <a:ext cx="566928" cy="566928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48920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리듬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4288" y="53492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박자에 맞추면 효율 가속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18888" y="397763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5038344" y="4197096"/>
            <a:ext cx="566928" cy="566928"/>
          </a:xfrm>
          <a:prstGeom prst="ellipse">
            <a:avLst/>
          </a:prstGeom>
          <a:solidFill>
            <a:srgbClr val="7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207" y="48920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점프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207" y="53492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장애물 타이밍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07808" y="3977639"/>
            <a:ext cx="2560320" cy="1874519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7827264" y="4197096"/>
            <a:ext cx="566928" cy="566928"/>
          </a:xfrm>
          <a:prstGeom prst="ellipse">
            <a:avLst/>
          </a:prstGeom>
          <a:solidFill>
            <a:srgbClr val="7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8" y="489204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채찍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8" y="53492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레이스당 횟수 제한 순간 가속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강조된 보법 · 리듬이 우리 게임만의 차별점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직선은 습보, 코너는 구보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보법 모드와 리듬 — 우리 게임만의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66928"/>
            <a:ext cx="192024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피드백 1 대응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9748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직선  ·  습보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265176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7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코너  ·  구보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69748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직선  ·  습보</a:t>
            </a:r>
          </a:p>
        </p:txBody>
      </p:sp>
      <p:sp>
        <p:nvSpPr>
          <p:cNvPr id="8" name="Oval 7"/>
          <p:cNvSpPr/>
          <p:nvPr/>
        </p:nvSpPr>
        <p:spPr>
          <a:xfrm>
            <a:off x="1161288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7653527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709928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02167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58568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8750807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07208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9299448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3355848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9848088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3904487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96728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4453127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45367" y="2304288"/>
            <a:ext cx="146304" cy="146304"/>
          </a:xfrm>
          <a:prstGeom prst="ellipse">
            <a:avLst/>
          </a:prstGeom>
          <a:solidFill>
            <a:srgbClr val="FBF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♪  W를 말발굽 박자에 맞춰 누르면 리듬 가속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42900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36118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습보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14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3C2AE"/>
                </a:solidFill>
                <a:latin typeface="Pretendard SemiBold"/>
                <a:ea typeface="Pretendard SemiBold"/>
                <a:cs typeface="Pretendard SemiBold"/>
              </a:rPr>
              <a:t>직선용 전력 질주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5262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최고 속도 높음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회전 둔함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스태미나 소모 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42900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36118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7FB078"/>
                </a:solidFill>
                <a:latin typeface="Pretendard ExtraBold"/>
                <a:ea typeface="Pretendard ExtraBold"/>
                <a:cs typeface="Pretendard ExtraBold"/>
              </a:rPr>
              <a:t>구보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114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3C2AE"/>
                </a:solidFill>
                <a:latin typeface="Pretendard SemiBold"/>
                <a:ea typeface="Pretendard SemiBold"/>
                <a:cs typeface="Pretendard SemiBold"/>
              </a:rPr>
              <a:t>코너용 안정 주행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5262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회전 안정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스태미나 절약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최고 속도 낮음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342900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83879" y="36118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리듬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114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3C2AE"/>
                </a:solidFill>
                <a:latin typeface="Pretendard SemiBold"/>
                <a:ea typeface="Pretendard SemiBold"/>
                <a:cs typeface="Pretendard SemiBold"/>
              </a:rPr>
              <a:t>말과 호흡 맞추기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52628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W를 박자에 맞춰 입력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스태미나 효율 · 속도 상승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놓쳐도 기본 가속 유지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언제 모드를 바꾸고, 얼마나 리듬을 맞추는지가 곧 실력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왼손은 말을, 오른손은 기수의 몸을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키보드 조작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66928"/>
            <a:ext cx="192024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피드백 2 · 3 대응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05840" cy="713232"/>
          </a:xfrm>
          <a:prstGeom prst="roundRect">
            <a:avLst>
              <a:gd name="adj" fmla="val 18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채찍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2011680"/>
            <a:ext cx="731520" cy="713232"/>
          </a:xfrm>
          <a:prstGeom prst="roundRect">
            <a:avLst>
              <a:gd name="adj" fmla="val 18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788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가속 · 리듬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154680"/>
            <a:ext cx="1188720" cy="713232"/>
          </a:xfrm>
          <a:prstGeom prst="roundRect">
            <a:avLst>
              <a:gd name="adj" fmla="val 18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구보↔습보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3154680"/>
            <a:ext cx="731520" cy="713232"/>
          </a:xfrm>
          <a:prstGeom prst="roundRect">
            <a:avLst>
              <a:gd name="adj" fmla="val 18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79" y="3931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154680"/>
            <a:ext cx="731520" cy="713232"/>
          </a:xfrm>
          <a:prstGeom prst="roundRect">
            <a:avLst>
              <a:gd name="adj" fmla="val 18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3931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감속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154680"/>
            <a:ext cx="731520" cy="713232"/>
          </a:xfrm>
          <a:prstGeom prst="roundRect">
            <a:avLst>
              <a:gd name="adj" fmla="val 18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931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4297680"/>
            <a:ext cx="2743200" cy="713232"/>
          </a:xfrm>
          <a:prstGeom prst="roundRect">
            <a:avLst>
              <a:gd name="adj" fmla="val 18000"/>
            </a:avLst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07492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점프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606040"/>
            <a:ext cx="777240" cy="713232"/>
          </a:xfrm>
          <a:prstGeom prst="roundRect">
            <a:avLst>
              <a:gd name="adj" fmla="val 18000"/>
            </a:avLst>
          </a:prstGeom>
          <a:solidFill>
            <a:srgbClr val="7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38328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레이싱 자세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3611880"/>
            <a:ext cx="777240" cy="713232"/>
          </a:xfrm>
          <a:prstGeom prst="roundRect">
            <a:avLst>
              <a:gd name="adj" fmla="val 18000"/>
            </a:avLst>
          </a:prstGeom>
          <a:solidFill>
            <a:srgbClr val="7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8912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몸 기울이기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611880"/>
            <a:ext cx="777240" cy="713232"/>
          </a:xfrm>
          <a:prstGeom prst="roundRect">
            <a:avLst>
              <a:gd name="adj" fmla="val 18000"/>
            </a:avLst>
          </a:prstGeom>
          <a:solidFill>
            <a:srgbClr val="7FB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38912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몸 기울이기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16002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왼손 — 말 조작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6002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7FB078"/>
                </a:solidFill>
                <a:latin typeface="Pretendard ExtraBold"/>
                <a:ea typeface="Pretendard ExtraBold"/>
                <a:cs typeface="Pretendard ExtraBold"/>
              </a:rPr>
              <a:t>오른손 — 기수의 몸 (홀드)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532120"/>
            <a:ext cx="3429000" cy="64008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" y="5532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입문   </a:t>
            </a: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W/S · A/D · Space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97680" y="5852160"/>
            <a:ext cx="228600" cy="0"/>
          </a:xfrm>
          <a:prstGeom prst="line">
            <a:avLst/>
          </a:prstGeom>
          <a:ln w="19050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480560" y="5532120"/>
            <a:ext cx="3429000" cy="64008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5532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기본   </a:t>
            </a: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+ 모드 전환 · 자세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955279" y="5852160"/>
            <a:ext cx="228600" cy="0"/>
          </a:xfrm>
          <a:prstGeom prst="line">
            <a:avLst/>
          </a:prstGeom>
          <a:ln w="19050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138160" y="5532120"/>
            <a:ext cx="3429000" cy="64008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66760" y="553212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숙련   </a:t>
            </a: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+ 리듬 가속 · 채찍 타이밍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레이스 한 판의 흐름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80160" y="2377440"/>
            <a:ext cx="9464040" cy="0"/>
          </a:xfrm>
          <a:prstGeom prst="line">
            <a:avLst/>
          </a:prstGeom>
          <a:ln w="25400">
            <a:solidFill>
              <a:srgbClr val="F0C4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37259" y="2034540"/>
            <a:ext cx="685800" cy="68580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52044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14201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3639312"/>
            <a:ext cx="1554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W 가속</a:t>
            </a:r>
          </a:p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Shift 습보</a:t>
            </a:r>
          </a:p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↑ 레이싱 자세</a:t>
            </a:r>
          </a:p>
        </p:txBody>
      </p:sp>
      <p:sp>
        <p:nvSpPr>
          <p:cNvPr id="9" name="Oval 8"/>
          <p:cNvSpPr/>
          <p:nvPr/>
        </p:nvSpPr>
        <p:spPr>
          <a:xfrm>
            <a:off x="3204972" y="2034540"/>
            <a:ext cx="685800" cy="68580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6352" y="2926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직선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9192" y="352044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14201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0632" y="3639312"/>
            <a:ext cx="1554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W 리듬 가속으로</a:t>
            </a:r>
          </a:p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스태미나 절약</a:t>
            </a:r>
          </a:p>
        </p:txBody>
      </p:sp>
      <p:sp>
        <p:nvSpPr>
          <p:cNvPr id="13" name="Oval 12"/>
          <p:cNvSpPr/>
          <p:nvPr/>
        </p:nvSpPr>
        <p:spPr>
          <a:xfrm>
            <a:off x="5472683" y="2034540"/>
            <a:ext cx="685800" cy="68580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064" y="2926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코너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46904" y="352044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14201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38344" y="3639312"/>
            <a:ext cx="1554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S 감속 · Shift 구보</a:t>
            </a:r>
          </a:p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A/D + ←/→</a:t>
            </a:r>
          </a:p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몸 기울이기</a:t>
            </a:r>
          </a:p>
        </p:txBody>
      </p:sp>
      <p:sp>
        <p:nvSpPr>
          <p:cNvPr id="17" name="Oval 16"/>
          <p:cNvSpPr/>
          <p:nvPr/>
        </p:nvSpPr>
        <p:spPr>
          <a:xfrm>
            <a:off x="7740396" y="2034540"/>
            <a:ext cx="685800" cy="68580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6" y="2926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장애물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14616" y="352044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14201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06056" y="3639312"/>
            <a:ext cx="1554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기본 자세로 접근</a:t>
            </a:r>
          </a:p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Space 점프</a:t>
            </a:r>
          </a:p>
        </p:txBody>
      </p:sp>
      <p:sp>
        <p:nvSpPr>
          <p:cNvPr id="21" name="Oval 20"/>
          <p:cNvSpPr/>
          <p:nvPr/>
        </p:nvSpPr>
        <p:spPr>
          <a:xfrm>
            <a:off x="10008108" y="2034540"/>
            <a:ext cx="685800" cy="68580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926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마지막 직선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82328" y="352044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14201A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73768" y="3639312"/>
            <a:ext cx="15544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습보 + 레이싱 자세</a:t>
            </a:r>
          </a:p>
          <a:p>
            <a:pPr algn="ctr">
              <a:lnSpc>
                <a:spcPct val="130000"/>
              </a:lnSpc>
            </a:pPr>
            <a:r>
              <a:rPr sz="12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Tab 채찍 추월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일곱 가지 조작이 한 판 안에서 모두 의미 있게 쓰인다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646920" y="566928"/>
            <a:ext cx="192024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피드백 4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PART 2  필드 · 육성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마을 3곳과 그 사이의 필드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3017520"/>
            <a:ext cx="1417319" cy="0"/>
          </a:xfrm>
          <a:prstGeom prst="line">
            <a:avLst/>
          </a:prstGeom>
          <a:ln w="38100">
            <a:solidFill>
              <a:srgbClr val="7FB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48840" y="3154680"/>
            <a:ext cx="13258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7FB078"/>
                </a:solidFill>
                <a:latin typeface="Pretendard SemiBold"/>
                <a:ea typeface="Pretendard SemiBold"/>
                <a:cs typeface="Pretendard SemiBold"/>
              </a:rPr>
              <a:t>필드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00600" y="3017520"/>
            <a:ext cx="1417320" cy="0"/>
          </a:xfrm>
          <a:prstGeom prst="line">
            <a:avLst/>
          </a:prstGeom>
          <a:ln w="38100">
            <a:solidFill>
              <a:srgbClr val="7FB07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46320" y="315468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7FB078"/>
                </a:solidFill>
                <a:latin typeface="Pretendard SemiBold"/>
                <a:ea typeface="Pretendard SemiBold"/>
                <a:cs typeface="Pretendard SemiBold"/>
              </a:rPr>
              <a:t>필드</a:t>
            </a:r>
          </a:p>
        </p:txBody>
      </p:sp>
      <p:sp>
        <p:nvSpPr>
          <p:cNvPr id="9" name="Oval 8"/>
          <p:cNvSpPr/>
          <p:nvPr/>
        </p:nvSpPr>
        <p:spPr>
          <a:xfrm>
            <a:off x="845820" y="2400300"/>
            <a:ext cx="1234440" cy="123444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마을 1</a:t>
            </a:r>
          </a:p>
        </p:txBody>
      </p:sp>
      <p:sp>
        <p:nvSpPr>
          <p:cNvPr id="10" name="Oval 9"/>
          <p:cNvSpPr/>
          <p:nvPr/>
        </p:nvSpPr>
        <p:spPr>
          <a:xfrm>
            <a:off x="3543300" y="2400300"/>
            <a:ext cx="1234440" cy="123444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마을 2</a:t>
            </a:r>
          </a:p>
        </p:txBody>
      </p:sp>
      <p:sp>
        <p:nvSpPr>
          <p:cNvPr id="11" name="Oval 10"/>
          <p:cNvSpPr/>
          <p:nvPr/>
        </p:nvSpPr>
        <p:spPr>
          <a:xfrm>
            <a:off x="6240780" y="2400300"/>
            <a:ext cx="1234440" cy="123444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마을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74980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마을마다 다른 콘셉트(분위기)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공통 시설: 마구간 · 대회장 · 상점 · 퀘스트 게시판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783080"/>
            <a:ext cx="3063240" cy="420624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8240" y="19659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레이스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377440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긴장감 있는 승부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7가지 기승 조작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스태미나 · 리듬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3657600"/>
            <a:ext cx="2514600" cy="0"/>
          </a:xfrm>
          <a:prstGeom prst="line">
            <a:avLst/>
          </a:prstGeom>
          <a:ln w="19050">
            <a:solidFill>
              <a:srgbClr val="2940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78240" y="384048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7FB078"/>
                </a:solidFill>
                <a:latin typeface="Pretendard ExtraBold"/>
                <a:ea typeface="Pretendard ExtraBold"/>
                <a:cs typeface="Pretendard ExtraBold"/>
              </a:rPr>
              <a:t>필드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4251960"/>
            <a:ext cx="26517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편안한 탐험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이동 · 달리기 · 점프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말에서 내리기 / 타기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필드에서 하는 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46920" y="566928"/>
            <a:ext cx="192024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피드백 4 · 5 대응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" name="Picture 4" descr="5장.png"/>
          <p:cNvPicPr>
            <a:picLocks noChangeAspect="1"/>
          </p:cNvPicPr>
          <p:nvPr/>
        </p:nvPicPr>
        <p:blipFill>
          <a:blip r:embed="rId3"/>
          <a:srcRect l="1849" r="1849"/>
          <a:stretch>
            <a:fillRect/>
          </a:stretch>
        </p:blipFill>
        <p:spPr>
          <a:xfrm>
            <a:off x="640080" y="1600200"/>
            <a:ext cx="352044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840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파밍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먹이: 과일 · 채소 · 곡물 · 견과류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치장 재료: 꽃 · 깃털 · 염료 · 가죽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" name="Picture 8" descr="9장.png"/>
          <p:cNvPicPr>
            <a:picLocks noChangeAspect="1"/>
          </p:cNvPicPr>
          <p:nvPr/>
        </p:nvPicPr>
        <p:blipFill>
          <a:blip r:embed="rId4"/>
          <a:srcRect l="1849" r="1849"/>
          <a:stretch>
            <a:fillRect/>
          </a:stretch>
        </p:blipFill>
        <p:spPr>
          <a:xfrm>
            <a:off x="4343400" y="1600200"/>
            <a:ext cx="3520440" cy="2057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3840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점프 코스 · 수집품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438912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필드 곳곳의 점프 코스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숨겨진 말굽 문양 수집품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11장.png"/>
          <p:cNvPicPr>
            <a:picLocks noChangeAspect="1"/>
          </p:cNvPicPr>
          <p:nvPr/>
        </p:nvPicPr>
        <p:blipFill>
          <a:blip r:embed="rId5"/>
          <a:srcRect l="1849" r="1849"/>
          <a:stretch>
            <a:fillRect/>
          </a:stretch>
        </p:blipFill>
        <p:spPr>
          <a:xfrm>
            <a:off x="8046720" y="1600200"/>
            <a:ext cx="3520440" cy="2057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21040" y="3840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마을 퀘스트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389120"/>
            <a:ext cx="3063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마을에서 여러 퀘스트 수주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·  보상: 돈 · 재료 · 아이템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먹이로 키우는 육성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07008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모든 성장은 레이스 성능으로 이어진다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566928"/>
            <a:ext cx="1920240" cy="36576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0C4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1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피드백 5 · 6 대응</a:t>
            </a:r>
          </a:p>
        </p:txBody>
      </p:sp>
      <p:sp>
        <p:nvSpPr>
          <p:cNvPr id="5" name="Oval 4"/>
          <p:cNvSpPr/>
          <p:nvPr/>
        </p:nvSpPr>
        <p:spPr>
          <a:xfrm>
            <a:off x="1028700" y="1943100"/>
            <a:ext cx="1143000" cy="1143000"/>
          </a:xfrm>
          <a:prstGeom prst="ellipse">
            <a:avLst/>
          </a:prstGeom>
          <a:solidFill>
            <a:srgbClr val="E87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7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과일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00200" y="3182112"/>
            <a:ext cx="0" cy="429768"/>
          </a:xfrm>
          <a:prstGeom prst="line">
            <a:avLst/>
          </a:prstGeom>
          <a:ln w="22225">
            <a:solidFill>
              <a:srgbClr val="FBF5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36576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29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속도</a:t>
            </a:r>
          </a:p>
        </p:txBody>
      </p:sp>
      <p:sp>
        <p:nvSpPr>
          <p:cNvPr id="8" name="Oval 7"/>
          <p:cNvSpPr/>
          <p:nvPr/>
        </p:nvSpPr>
        <p:spPr>
          <a:xfrm>
            <a:off x="2811780" y="1943100"/>
            <a:ext cx="1143000" cy="1143000"/>
          </a:xfrm>
          <a:prstGeom prst="ellipse">
            <a:avLst/>
          </a:prstGeom>
          <a:solidFill>
            <a:srgbClr val="E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7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채소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83280" y="3182112"/>
            <a:ext cx="0" cy="429768"/>
          </a:xfrm>
          <a:prstGeom prst="line">
            <a:avLst/>
          </a:prstGeom>
          <a:ln w="22225">
            <a:solidFill>
              <a:srgbClr val="FBF5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97480" y="36576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29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지구력</a:t>
            </a:r>
          </a:p>
        </p:txBody>
      </p:sp>
      <p:sp>
        <p:nvSpPr>
          <p:cNvPr id="11" name="Oval 10"/>
          <p:cNvSpPr/>
          <p:nvPr/>
        </p:nvSpPr>
        <p:spPr>
          <a:xfrm>
            <a:off x="4594860" y="1943100"/>
            <a:ext cx="1143000" cy="1143000"/>
          </a:xfrm>
          <a:prstGeom prst="ellipse">
            <a:avLst/>
          </a:prstGeom>
          <a:solidFill>
            <a:srgbClr val="D8C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7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곡물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66360" y="3182112"/>
            <a:ext cx="0" cy="429768"/>
          </a:xfrm>
          <a:prstGeom prst="line">
            <a:avLst/>
          </a:prstGeom>
          <a:ln w="22225">
            <a:solidFill>
              <a:srgbClr val="FBF5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80560" y="36576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29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순발력</a:t>
            </a:r>
          </a:p>
        </p:txBody>
      </p:sp>
      <p:sp>
        <p:nvSpPr>
          <p:cNvPr id="14" name="Oval 13"/>
          <p:cNvSpPr/>
          <p:nvPr/>
        </p:nvSpPr>
        <p:spPr>
          <a:xfrm>
            <a:off x="6377940" y="1943100"/>
            <a:ext cx="1143000" cy="1143000"/>
          </a:xfrm>
          <a:prstGeom prst="ellipse">
            <a:avLst/>
          </a:prstGeom>
          <a:solidFill>
            <a:srgbClr val="B08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7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견과류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0" y="3182112"/>
            <a:ext cx="0" cy="429768"/>
          </a:xfrm>
          <a:prstGeom prst="line">
            <a:avLst/>
          </a:prstGeom>
          <a:ln w="22225">
            <a:solidFill>
              <a:srgbClr val="FBF5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3657600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29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점프력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9164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691640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밥 (사료)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경험치 → 레벨업, 모든 능력치 소폭 상승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78892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2788920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포만감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한 번에 먹일 수 있는 양 제한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88620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3886200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교배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망아지가 부모 능력치 일부 계승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498348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1F31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4983480"/>
            <a:ext cx="31089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C47C"/>
                </a:solidFill>
                <a:latin typeface="Pretendard ExtraBold"/>
                <a:ea typeface="Pretendard ExtraBold"/>
                <a:cs typeface="Pretendard ExtraBold"/>
              </a:rPr>
              <a:t>치장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재료로 제작, 외형만 변경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6344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어떤 음식을 주느냐에 따라 속도형 · 지구력형 · 점프형으로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같은 말도 다르게 키울 수 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기수 성장 · 말 특성 · 기능 장비는 넣지 않아 레이싱에 집중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vill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게임 전체 구조 — 성장 루프</a:t>
            </a:r>
          </a:p>
        </p:txBody>
      </p:sp>
      <p:sp>
        <p:nvSpPr>
          <p:cNvPr id="4" name="Oval 3"/>
          <p:cNvSpPr/>
          <p:nvPr/>
        </p:nvSpPr>
        <p:spPr>
          <a:xfrm>
            <a:off x="5298948" y="1531619"/>
            <a:ext cx="1600200" cy="160020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필드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36008" y="322783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파밍 · 퀘스트 · 수집품</a:t>
            </a:r>
          </a:p>
        </p:txBody>
      </p:sp>
      <p:sp>
        <p:nvSpPr>
          <p:cNvPr id="6" name="Oval 5"/>
          <p:cNvSpPr/>
          <p:nvPr/>
        </p:nvSpPr>
        <p:spPr>
          <a:xfrm>
            <a:off x="8252460" y="4000500"/>
            <a:ext cx="1600200" cy="160020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마을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56967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먹이 · 치장 · 교배</a:t>
            </a:r>
          </a:p>
        </p:txBody>
      </p:sp>
      <p:sp>
        <p:nvSpPr>
          <p:cNvPr id="8" name="Oval 7"/>
          <p:cNvSpPr/>
          <p:nvPr/>
        </p:nvSpPr>
        <p:spPr>
          <a:xfrm>
            <a:off x="2336292" y="4000500"/>
            <a:ext cx="1600200" cy="1600200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레이스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56967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BF5DE"/>
                </a:solidFill>
                <a:latin typeface="Pretendard SemiBold"/>
                <a:ea typeface="Pretendard SemiBold"/>
                <a:cs typeface="Pretendard SemiBold"/>
              </a:rPr>
              <a:t>대회 · 상금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03720" y="2880360"/>
            <a:ext cx="1371600" cy="1280160"/>
          </a:xfrm>
          <a:prstGeom prst="line">
            <a:avLst/>
          </a:prstGeom>
          <a:ln w="28575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977639" y="4800600"/>
            <a:ext cx="4251961" cy="0"/>
          </a:xfrm>
          <a:prstGeom prst="line">
            <a:avLst/>
          </a:prstGeom>
          <a:ln w="28575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86200" y="2880360"/>
            <a:ext cx="1417320" cy="1280160"/>
          </a:xfrm>
          <a:prstGeom prst="line">
            <a:avLst/>
          </a:prstGeom>
          <a:ln w="28575">
            <a:solidFill>
              <a:srgbClr val="F0C4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818120" y="3108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재료 · 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434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강해진 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108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>
                <a:solidFill>
                  <a:srgbClr val="FBF5DE"/>
                </a:solidFill>
                <a:latin typeface="Pretendard"/>
                <a:ea typeface="Pretendard"/>
                <a:cs typeface="Pretendard"/>
              </a:rPr>
              <a:t>상금 · 다시 탐험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914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0C47C"/>
                </a:solidFill>
                <a:latin typeface="Pretendard SemiBold"/>
                <a:ea typeface="Pretendard SemiBold"/>
                <a:cs typeface="Pretendard SemiBold"/>
              </a:rPr>
              <a:t>다음 단계</a:t>
            </a:r>
          </a:p>
        </p:txBody>
      </p:sp>
      <p:sp>
        <p:nvSpPr>
          <p:cNvPr id="4" name="Oval 3"/>
          <p:cNvSpPr/>
          <p:nvPr/>
        </p:nvSpPr>
        <p:spPr>
          <a:xfrm>
            <a:off x="905256" y="1609343"/>
            <a:ext cx="566928" cy="566928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508760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기승 조작 프로토타입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구보 · 습보 · 리듬 손맛 검증</a:t>
            </a:r>
          </a:p>
        </p:txBody>
      </p:sp>
      <p:sp>
        <p:nvSpPr>
          <p:cNvPr id="6" name="Oval 5"/>
          <p:cNvSpPr/>
          <p:nvPr/>
        </p:nvSpPr>
        <p:spPr>
          <a:xfrm>
            <a:off x="905256" y="2615184"/>
            <a:ext cx="566928" cy="566928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514600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콘텐츠 상세 설계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마을 콘셉트 · 퀘스트 · 교배 규칙</a:t>
            </a:r>
          </a:p>
        </p:txBody>
      </p:sp>
      <p:sp>
        <p:nvSpPr>
          <p:cNvPr id="8" name="Oval 7"/>
          <p:cNvSpPr/>
          <p:nvPr/>
        </p:nvSpPr>
        <p:spPr>
          <a:xfrm>
            <a:off x="905256" y="3621024"/>
            <a:ext cx="566928" cy="566928"/>
          </a:xfrm>
          <a:prstGeom prst="ellipse">
            <a:avLst/>
          </a:prstGeom>
          <a:solidFill>
            <a:srgbClr val="F0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0">
                <a:solidFill>
                  <a:srgbClr val="14201A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520440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아트 방향 수립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B3C2AE"/>
                </a:solidFill>
                <a:latin typeface="Pretendard"/>
                <a:ea typeface="Pretendard"/>
                <a:cs typeface="Pretendard"/>
              </a:rPr>
              <a:t>말 모델링 · 배경 퀄리티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0">
                <a:solidFill>
                  <a:srgbClr val="FBF5DE"/>
                </a:solidFill>
                <a:latin typeface="Pretendard ExtraBold"/>
                <a:ea typeface="Pretendard ExtraBold"/>
                <a:cs typeface="Pretendard ExtraBold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1101</Words>
  <Application>Microsoft Office PowerPoint</Application>
  <PresentationFormat>와이드스크린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Pretendard ExtraBold</vt:lpstr>
      <vt:lpstr>Pretendard</vt:lpstr>
      <vt:lpstr>Pretendard SemiBold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김경준(2022184005)</cp:lastModifiedBy>
  <cp:revision>2</cp:revision>
  <dcterms:created xsi:type="dcterms:W3CDTF">2013-01-27T09:14:16Z</dcterms:created>
  <dcterms:modified xsi:type="dcterms:W3CDTF">2026-10-24T18:29:01Z</dcterms:modified>
  <cp:category/>
</cp:coreProperties>
</file>