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Pretendard" panose="02000503000000020004" pitchFamily="2" charset="-127"/>
      <p:regular r:id="rId16"/>
      <p:bold r:id="rId17"/>
    </p:embeddedFont>
    <p:embeddedFont>
      <p:font typeface="Pretendard ExtraBold" panose="02000903000000020004" pitchFamily="2" charset="-127"/>
      <p:bold r:id="rId18"/>
    </p:embeddedFont>
    <p:embeddedFont>
      <p:font typeface="Pretendard SemiBold" panose="02000703000000020004" pitchFamily="2" charset="-127"/>
      <p:bold r:id="rId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3997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지난 발표에서 받은 피드백을 바탕으로 게임 기획을 수정했습니다. 오늘은 무엇을 바꾸고 무엇을 더했는지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실제 승마에서 기수는 부조라는 신호로 말을 움직입니다. 부조에는 고삐, 다리, 체중처럼 몸을 쓰는 자연 부조와, 채찍이나 박차처럼 도구를 쓰는 인공 부조가 있습니다. 말은 이 신호를 받아 평보, 속보, 구보, 습보의 보법으로 움직이고, 걸음마다 일정한 리듬이 있습니다. 이 구조를 게임에 어떻게 옮겼는지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실제 승마의 부조 기술을 일곱 가지 조작으로 옮겼습니다. 고삐, 다리, 자세, 보법, 리듬, 점프, 채찍입니다. 이 중 보법과 리듬이 일반 레이싱 게임과 가장 다른 부분입니다.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왼손으로는 말을 다룹니다. W와 S로 가속과 감속, A와 D로 방향, Shift로 보법 전환, Space로 점프, Tab으로 채찍입니다. 오른손은 기수의 몸입니다. 위 방향키를 누르고 있으면 몸을 숙인 레이싱 자세, 좌우 방향키는 몸을 기울여 코너를 돕습니다. 처음에는 가속, 방향, 점프만으로도 충분히 탈 수 있게 단계별로 익힙니다.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직선에서는 빠른 습보로, 코너 전에는 안정적인 구보로 모드를 바꿉니다. 습보로 코너에 들어가면 밀려납니다. 또 W를 말발굽 박자에 맞춰 누르면 스태미나를 아끼면서 더 빨리 달릴 수 있습니다. 말과 호흡을 맞추는 감각을 손으로 느끼게 하는 것이 목표입니다.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실제 레이스 한 판은 이렇게 흘러갑니다. 출발해서 습보로 올리고, 직선에서는 리듬으로 체력을 아끼고, 코너 전에는 구보로 내려 몸을 기울여 돕니다. 장애물은 점프로 넘고, 마지막 직선에서 아껴둔 채찍으로 추월합니다.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규모를 키우기 위해 오픈 필드를 추가했습니다. 마을과 마을을 잇는 길이 아니라, 넓은 필드 위에 콘셉트가 서로 다른 마을 세 곳이 자리 잡은 구조입니다. 마을마다 마구간, 대회장, 상점, 퀘스트 게시판이 있고, 필드에서는 어디든 자유롭게 달리며 채집하고, 점프 코스를 넘어 숨겨진 수집품을 찾을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필드에서는 먹이와 치장 재료를 채집합니다. 과일, 채소, 곡물, 견과류 같은 먹이는 말의 능력치를 키우는 데 쓰고, 꽃, 깃털, 염료 열매, 철광석, 가죽 같은 재료는 치장 아이템을 만드는 데 씁니다. 채집물은 일정 시간이 지나면 다시 생기고, 일부는 말에서 내려야만 닿을 수 있는 곳에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필드 곳곳에는 통나무, 돌담, 개울 같은 점프 코스가 있습니다. 점프 코스를 넘어야 갈 수 있는 숨겨진 장소에 황금 말굽 수집품이 있고, 일정 개수를 모으면 특별한 치장 아이템을 받습니다. 필드에서 유일하게 실력이 필요한 요소이자, 구석구석 탐험하게 만드는 장치입니다.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각 마을의 퀘스트 게시판이나 마을 사람들에게서 여러 종류의 퀘스트를 받을 수 있습니다. 퀘스트를 완료하면 돈, 재료, 아이템을 보상으로 받고, 이 보상은 말을 키우고 꾸미는 데 쓰입니다. 퀘스트의 구체적인 종류는 앞으로 상세하게 설계할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육성은 먹이로 합니다. 밥을 먹이면 레벨이 올라 전체 능력치가 오르고, 과일은 속도, 채소는 지구력, 곡물은 순발력, 견과류는 점프력을 올립니다. 포만감으로 한 번에 먹일 수 있는 양을 제한합니다. RPG 요소가 레이싱을 흐리지 않도록 모든 성장이 레이스 성능으로만 이어지게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정리하면 필드에서 재료와 돈을 모으고, 마을에서 말을 키우고 꾸미고, 강해진 말로 레이스에 나가 상금을 받아 다시 필드로 나가는 구조입니다.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앞으로는 기승 조작 프로토타입으로 손맛을 먼저 검증하고, 마을 콘셉트와 퀘스트 같은 콘텐츠를 상세 설계하고, 아트 방향을 세우겠습니다.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tit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914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졸업작품 기획 · 피드백 반영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68580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피드백 반영</a:t>
            </a:r>
          </a:p>
          <a:p>
            <a:pPr algn="l">
              <a:lnSpc>
                <a:spcPct val="105000"/>
              </a:lnSpc>
            </a:pPr>
            <a:r>
              <a:rPr sz="5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수정 기획안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42900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승마 레이싱 &amp; 육성 RPG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3949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김경준  ·  정진영  ·  강석주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PART 1  기승 조작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기수는 부조로 말을 움직인다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부조(扶助, Aids): 기수가 손 · 다리 · 체중 · 도구로 말에게 보내는 신호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237744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기수</a:t>
            </a:r>
          </a:p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신호를 보낸다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72384" y="2811780"/>
            <a:ext cx="365760" cy="0"/>
          </a:xfrm>
          <a:prstGeom prst="line">
            <a:avLst/>
          </a:prstGeom>
          <a:ln w="28575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74720" y="224028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0" y="2240280"/>
            <a:ext cx="237744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부조</a:t>
            </a:r>
          </a:p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14201A"/>
                </a:solidFill>
                <a:latin typeface="Pretendard"/>
                <a:ea typeface="Pretendard"/>
                <a:cs typeface="Pretendard"/>
              </a:rPr>
              <a:t>손 · 다리 · 체중 · 도구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07024" y="2811780"/>
            <a:ext cx="365759" cy="0"/>
          </a:xfrm>
          <a:prstGeom prst="line">
            <a:avLst/>
          </a:prstGeom>
          <a:ln w="28575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60" y="224028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2240280"/>
            <a:ext cx="237744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말</a:t>
            </a:r>
          </a:p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보법과 리듬으로 반응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41664" y="2811780"/>
            <a:ext cx="365760" cy="0"/>
          </a:xfrm>
          <a:prstGeom prst="line">
            <a:avLst/>
          </a:prstGeom>
          <a:ln w="28575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0" y="224028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2240280"/>
            <a:ext cx="237744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움직임</a:t>
            </a:r>
          </a:p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방향 · 속도 · 도약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03320"/>
            <a:ext cx="3502152" cy="260604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904487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0">
                <a:solidFill>
                  <a:srgbClr val="7FB078"/>
                </a:solidFill>
                <a:latin typeface="Pretendard ExtraBold"/>
                <a:ea typeface="Pretendard ExtraBold"/>
                <a:cs typeface="Pretendard ExtraBold"/>
              </a:rPr>
              <a:t>자연 부조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4340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기수의 몸으로 보내는 신호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463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손 (고삐)   </a:t>
            </a: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방향 전환 · 감속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다리   </a:t>
            </a: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전진 · 가속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607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기좌 · 체중   </a:t>
            </a: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균형 · 코너링 · 자세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8536" y="3703320"/>
            <a:ext cx="3502152" cy="260604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62856" y="3904487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0">
                <a:solidFill>
                  <a:srgbClr val="7FB078"/>
                </a:solidFill>
                <a:latin typeface="Pretendard ExtraBold"/>
                <a:ea typeface="Pretendard ExtraBold"/>
                <a:cs typeface="Pretendard ExtraBold"/>
              </a:rPr>
              <a:t>인공 부조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434340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도구로 보강하는 신호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2856" y="48463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채찍   </a:t>
            </a: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다리 신호 보강, 순간 추진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2856" y="53035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박차   </a:t>
            </a: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더 강한 다리 신호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36992" y="3703320"/>
            <a:ext cx="3502152" cy="260604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11312" y="3904487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말의 움직임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434340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기수가 맞춰야 하는 리듬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48463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보법   </a:t>
            </a: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평보 → 속보 → 구보 → 습보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53035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리듬   </a:t>
            </a: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걸음마다 일정한 박자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실제 승마 기술을 게임으로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070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7가지 기승 조작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560320" cy="187451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048255"/>
            <a:ext cx="566928" cy="566928"/>
          </a:xfrm>
          <a:prstGeom prst="ellipse">
            <a:avLst/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고삐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방향 전환 · 감속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560320" cy="187451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2048255"/>
            <a:ext cx="566928" cy="566928"/>
          </a:xfrm>
          <a:prstGeom prst="ellipse">
            <a:avLst/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다리(박차)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20040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가속, 스태미나 소모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2560320" cy="187451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37376" y="2048255"/>
            <a:ext cx="566928" cy="566928"/>
          </a:xfrm>
          <a:prstGeom prst="ellipse">
            <a:avLst/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74320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자세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20040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코너링 · 최고 속도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1828800"/>
            <a:ext cx="2560320" cy="187451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9226296" y="2048255"/>
            <a:ext cx="566928" cy="566928"/>
          </a:xfrm>
          <a:prstGeom prst="ellipse">
            <a:avLst/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274320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보법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20040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구보 / 습보 모드 전환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9968" y="3977639"/>
            <a:ext cx="2560320" cy="187451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2249424" y="4197096"/>
            <a:ext cx="566928" cy="566928"/>
          </a:xfrm>
          <a:prstGeom prst="ellipse">
            <a:avLst/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4288" y="489204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리듬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4288" y="53492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박자에 맞추면 효율 가속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18888" y="3977639"/>
            <a:ext cx="2560320" cy="187451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Oval 24"/>
          <p:cNvSpPr/>
          <p:nvPr/>
        </p:nvSpPr>
        <p:spPr>
          <a:xfrm>
            <a:off x="5038344" y="4197096"/>
            <a:ext cx="566928" cy="566928"/>
          </a:xfrm>
          <a:prstGeom prst="ellipse">
            <a:avLst/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3207" y="489204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점프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3207" y="53492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장애물 타이밍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07808" y="3977639"/>
            <a:ext cx="2560320" cy="187451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7827264" y="4197096"/>
            <a:ext cx="566928" cy="566928"/>
          </a:xfrm>
          <a:prstGeom prst="ellipse">
            <a:avLst/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8" y="489204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채찍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82128" y="53492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레이스당 횟수 제한 순간 가속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왼손은 말을, 오른손은 기수의 몸을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070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키보드 조작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005840" cy="713232"/>
          </a:xfrm>
          <a:prstGeom prst="roundRect">
            <a:avLst>
              <a:gd name="adj" fmla="val 1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채찍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57400" y="2011680"/>
            <a:ext cx="731520" cy="713232"/>
          </a:xfrm>
          <a:prstGeom prst="roundRect">
            <a:avLst>
              <a:gd name="adj" fmla="val 1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78892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가속 · 리듬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54680"/>
            <a:ext cx="1188720" cy="713232"/>
          </a:xfrm>
          <a:prstGeom prst="roundRect">
            <a:avLst>
              <a:gd name="adj" fmla="val 1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Shift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구보↔습보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3154680"/>
            <a:ext cx="731520" cy="713232"/>
          </a:xfrm>
          <a:prstGeom prst="roundRect">
            <a:avLst>
              <a:gd name="adj" fmla="val 1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79" y="393192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3154680"/>
            <a:ext cx="731520" cy="713232"/>
          </a:xfrm>
          <a:prstGeom prst="roundRect">
            <a:avLst>
              <a:gd name="adj" fmla="val 1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393192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감속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3154680"/>
            <a:ext cx="731520" cy="713232"/>
          </a:xfrm>
          <a:prstGeom prst="roundRect">
            <a:avLst>
              <a:gd name="adj" fmla="val 1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93192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4297680"/>
            <a:ext cx="2743200" cy="713232"/>
          </a:xfrm>
          <a:prstGeom prst="roundRect">
            <a:avLst>
              <a:gd name="adj" fmla="val 1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07492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점프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1080" y="2606040"/>
            <a:ext cx="777240" cy="713232"/>
          </a:xfrm>
          <a:prstGeom prst="roundRect">
            <a:avLst>
              <a:gd name="adj" fmla="val 18000"/>
            </a:avLst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383280"/>
            <a:ext cx="1143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레이싱 자세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3611880"/>
            <a:ext cx="777240" cy="713232"/>
          </a:xfrm>
          <a:prstGeom prst="roundRect">
            <a:avLst>
              <a:gd name="adj" fmla="val 18000"/>
            </a:avLst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389120"/>
            <a:ext cx="1143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몸 기울이기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3611880"/>
            <a:ext cx="777240" cy="713232"/>
          </a:xfrm>
          <a:prstGeom prst="roundRect">
            <a:avLst>
              <a:gd name="adj" fmla="val 18000"/>
            </a:avLst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4389120"/>
            <a:ext cx="1143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몸 기울이기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6002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왼손 — 말 조작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16002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7FB078"/>
                </a:solidFill>
                <a:latin typeface="Pretendard ExtraBold"/>
                <a:ea typeface="Pretendard ExtraBold"/>
                <a:cs typeface="Pretendard ExtraBold"/>
              </a:rPr>
              <a:t>오른손 — 기수의 몸 (홀드)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532120"/>
            <a:ext cx="3429000" cy="64008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1560" y="553212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입문   </a:t>
            </a: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W/S · A/D · Space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297680" y="5852160"/>
            <a:ext cx="228600" cy="0"/>
          </a:xfrm>
          <a:prstGeom prst="line">
            <a:avLst/>
          </a:prstGeom>
          <a:ln w="19050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80560" y="5532120"/>
            <a:ext cx="3429000" cy="64008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09160" y="553212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기본   </a:t>
            </a: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+ 모드 전환 · 자세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55279" y="5852160"/>
            <a:ext cx="228600" cy="0"/>
          </a:xfrm>
          <a:prstGeom prst="line">
            <a:avLst/>
          </a:prstGeom>
          <a:ln w="19050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60" y="5532120"/>
            <a:ext cx="3429000" cy="64008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66760" y="553212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숙련   </a:t>
            </a: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+ 리듬 가속 · 채찍 타이밍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직선은 습보, 코너는 구보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070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보법 모드와 리듬 — 우리 게임만의 차별점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97480"/>
            <a:ext cx="4023360" cy="384048"/>
          </a:xfrm>
          <a:prstGeom prst="roundRect">
            <a:avLst>
              <a:gd name="adj" fmla="val 50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직선  ·  습보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83480" y="2651760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코너  ·  구보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2697480"/>
            <a:ext cx="4023360" cy="384048"/>
          </a:xfrm>
          <a:prstGeom prst="roundRect">
            <a:avLst>
              <a:gd name="adj" fmla="val 50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직선  ·  습보</a:t>
            </a:r>
          </a:p>
        </p:txBody>
      </p:sp>
      <p:sp>
        <p:nvSpPr>
          <p:cNvPr id="7" name="Oval 6"/>
          <p:cNvSpPr/>
          <p:nvPr/>
        </p:nvSpPr>
        <p:spPr>
          <a:xfrm>
            <a:off x="116128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7653527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170992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val 9"/>
          <p:cNvSpPr/>
          <p:nvPr/>
        </p:nvSpPr>
        <p:spPr>
          <a:xfrm>
            <a:off x="8202167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225856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val 11"/>
          <p:cNvSpPr/>
          <p:nvPr/>
        </p:nvSpPr>
        <p:spPr>
          <a:xfrm>
            <a:off x="8750807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280720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929944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335584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val 15"/>
          <p:cNvSpPr/>
          <p:nvPr/>
        </p:nvSpPr>
        <p:spPr>
          <a:xfrm>
            <a:off x="984808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3904487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39672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4453127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945367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♪  W를 말발굽 박자에 맞춰 누르면 리듬 가속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42900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361188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습보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114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B3C2AE"/>
                </a:solidFill>
                <a:latin typeface="Pretendard SemiBold"/>
                <a:ea typeface="Pretendard SemiBold"/>
                <a:cs typeface="Pretendard SemiBold"/>
              </a:rPr>
              <a:t>직선용 전력 질주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52628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최고 속도 높음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회전 둔함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스태미나 소모 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342900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63440" y="361188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7FB078"/>
                </a:solidFill>
                <a:latin typeface="Pretendard ExtraBold"/>
                <a:ea typeface="Pretendard ExtraBold"/>
                <a:cs typeface="Pretendard ExtraBold"/>
              </a:rPr>
              <a:t>구보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114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B3C2AE"/>
                </a:solidFill>
                <a:latin typeface="Pretendard SemiBold"/>
                <a:ea typeface="Pretendard SemiBold"/>
                <a:cs typeface="Pretendard SemiBold"/>
              </a:rPr>
              <a:t>코너용 안정 주행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52628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회전 안정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스태미나 절약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최고 속도 낮음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342900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83879" y="361188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리듬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114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B3C2AE"/>
                </a:solidFill>
                <a:latin typeface="Pretendard SemiBold"/>
                <a:ea typeface="Pretendard SemiBold"/>
                <a:cs typeface="Pretendard SemiBold"/>
              </a:rPr>
              <a:t>말과 호흡 맞추기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452628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W를 박자에 맞춰 입력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스태미나 효율 · 속도 상승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놓쳐도 기본 가속 유지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언제 모드를 바꾸고, 얼마나 리듬을 맞추는지가 곧 실력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레이스 한 판의 흐름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80160" y="2377440"/>
            <a:ext cx="9464040" cy="0"/>
          </a:xfrm>
          <a:prstGeom prst="line">
            <a:avLst/>
          </a:prstGeom>
          <a:ln w="25400">
            <a:solidFill>
              <a:srgbClr val="F0C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937259" y="2034540"/>
            <a:ext cx="685800" cy="6858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출발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3520440"/>
            <a:ext cx="1737360" cy="1325880"/>
          </a:xfrm>
          <a:prstGeom prst="roundRect">
            <a:avLst>
              <a:gd name="adj" fmla="val 8000"/>
            </a:avLst>
          </a:prstGeom>
          <a:solidFill>
            <a:srgbClr val="14201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3639312"/>
            <a:ext cx="1554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W 가속</a:t>
            </a:r>
          </a:p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Shift 습보</a:t>
            </a:r>
          </a:p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↑ 레이싱 자세</a:t>
            </a:r>
          </a:p>
        </p:txBody>
      </p:sp>
      <p:sp>
        <p:nvSpPr>
          <p:cNvPr id="9" name="Oval 8"/>
          <p:cNvSpPr/>
          <p:nvPr/>
        </p:nvSpPr>
        <p:spPr>
          <a:xfrm>
            <a:off x="3204972" y="2034540"/>
            <a:ext cx="685800" cy="6858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29260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직선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79192" y="3520440"/>
            <a:ext cx="1737360" cy="1325880"/>
          </a:xfrm>
          <a:prstGeom prst="roundRect">
            <a:avLst>
              <a:gd name="adj" fmla="val 8000"/>
            </a:avLst>
          </a:prstGeom>
          <a:solidFill>
            <a:srgbClr val="14201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70632" y="3639312"/>
            <a:ext cx="1554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W 리듬 가속으로</a:t>
            </a:r>
          </a:p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스태미나 절약</a:t>
            </a:r>
          </a:p>
        </p:txBody>
      </p:sp>
      <p:sp>
        <p:nvSpPr>
          <p:cNvPr id="13" name="Oval 12"/>
          <p:cNvSpPr/>
          <p:nvPr/>
        </p:nvSpPr>
        <p:spPr>
          <a:xfrm>
            <a:off x="5472683" y="2034540"/>
            <a:ext cx="685800" cy="6858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064" y="29260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코너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6904" y="3520440"/>
            <a:ext cx="1737360" cy="1325880"/>
          </a:xfrm>
          <a:prstGeom prst="roundRect">
            <a:avLst>
              <a:gd name="adj" fmla="val 8000"/>
            </a:avLst>
          </a:prstGeom>
          <a:solidFill>
            <a:srgbClr val="14201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38344" y="3639312"/>
            <a:ext cx="1554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S 감속 · Shift 구보</a:t>
            </a:r>
          </a:p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A/D + ←/→</a:t>
            </a:r>
          </a:p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몸 기울이기</a:t>
            </a:r>
          </a:p>
        </p:txBody>
      </p:sp>
      <p:sp>
        <p:nvSpPr>
          <p:cNvPr id="17" name="Oval 16"/>
          <p:cNvSpPr/>
          <p:nvPr/>
        </p:nvSpPr>
        <p:spPr>
          <a:xfrm>
            <a:off x="7740396" y="2034540"/>
            <a:ext cx="685800" cy="6858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51776" y="29260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장애물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14616" y="3520440"/>
            <a:ext cx="1737360" cy="1325880"/>
          </a:xfrm>
          <a:prstGeom prst="roundRect">
            <a:avLst>
              <a:gd name="adj" fmla="val 8000"/>
            </a:avLst>
          </a:prstGeom>
          <a:solidFill>
            <a:srgbClr val="14201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06056" y="3639312"/>
            <a:ext cx="1554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기본 자세로 접근</a:t>
            </a:r>
          </a:p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Space 점프</a:t>
            </a:r>
          </a:p>
        </p:txBody>
      </p:sp>
      <p:sp>
        <p:nvSpPr>
          <p:cNvPr id="21" name="Oval 20"/>
          <p:cNvSpPr/>
          <p:nvPr/>
        </p:nvSpPr>
        <p:spPr>
          <a:xfrm>
            <a:off x="10008108" y="2034540"/>
            <a:ext cx="685800" cy="6858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9488" y="29260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마지막 직선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82328" y="3520440"/>
            <a:ext cx="1737360" cy="1325880"/>
          </a:xfrm>
          <a:prstGeom prst="roundRect">
            <a:avLst>
              <a:gd name="adj" fmla="val 8000"/>
            </a:avLst>
          </a:prstGeom>
          <a:solidFill>
            <a:srgbClr val="14201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73768" y="3639312"/>
            <a:ext cx="1554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습보 + 레이싱 자세</a:t>
            </a:r>
          </a:p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Tab 채찍 추월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일곱 가지 조작이 한 판 안에서 모두 의미 있게 쓰인다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PART 2  필드 · 육성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광활한 오픈 필드 위의 마을 3곳</a:t>
            </a:r>
          </a:p>
        </p:txBody>
      </p:sp>
      <p:pic>
        <p:nvPicPr>
          <p:cNvPr id="4" name="Picture 3" descr="필드지도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6652259" cy="4434840"/>
          </a:xfrm>
          <a:prstGeom prst="roundRect">
            <a:avLst>
              <a:gd name="adj" fmla="val 4500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1134998" y="2797606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14201A">
              <a:alpha val="78000"/>
            </a:srgbClr>
          </a:solidFill>
          <a:ln w="15875">
            <a:solidFill>
              <a:srgbClr val="F0C4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2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마을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62857" y="1910638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14201A">
              <a:alpha val="78000"/>
            </a:srgbClr>
          </a:solidFill>
          <a:ln w="15875">
            <a:solidFill>
              <a:srgbClr val="F0C4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2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마을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8103" y="4039361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14201A">
              <a:alpha val="78000"/>
            </a:srgbClr>
          </a:solidFill>
          <a:ln w="15875">
            <a:solidFill>
              <a:srgbClr val="F0C4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2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마을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66660" y="1783080"/>
            <a:ext cx="4000500" cy="443484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40980" y="20116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마을 3곳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0980" y="242316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마을마다 다른 콘셉트 · 분위기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0980" y="301752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공통 시설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980" y="3474720"/>
            <a:ext cx="1680210" cy="38404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2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마구간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12630" y="3474720"/>
            <a:ext cx="1680210" cy="38404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2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대회장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0980" y="3977639"/>
            <a:ext cx="1680210" cy="38404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2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상점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2630" y="3977639"/>
            <a:ext cx="1680210" cy="38404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2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퀘스트 게시판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0980" y="461772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오픈 필드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0980" y="502920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마을 사이 어디든 자유롭게 탐험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채집 · 점프 코스 · 숨겨진 수집품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필드 콘텐츠 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파밍</a:t>
            </a:r>
          </a:p>
        </p:txBody>
      </p:sp>
      <p:pic>
        <p:nvPicPr>
          <p:cNvPr id="4" name="Picture 3" descr="파밍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7406640" cy="4168449"/>
          </a:xfrm>
          <a:prstGeom prst="roundRect">
            <a:avLst>
              <a:gd name="adj" fmla="val 4500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8321040" y="1737360"/>
            <a:ext cx="3246120" cy="416844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0" y="196596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필드에서</a:t>
            </a:r>
          </a:p>
          <a:p>
            <a:pPr algn="l">
              <a:lnSpc>
                <a:spcPct val="120000"/>
              </a:lnSpc>
            </a:pPr>
            <a:r>
              <a:rPr sz="16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먹이와 치장 재료를 모은다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2834639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먹이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3163823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과일 · 채소 · 곡물 · 견과류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3456432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말의 능력치 성장에 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858768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치장 재료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4187952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꽃 · 깃털 · 염료 열매 · 철광석 · 가죽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480559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치장 아이템 제작에 사용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928616"/>
            <a:ext cx="2788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E 키로 채집, 일정 시간 후 다시 생성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말에서 내려야 닿는 채집 장소도 존재 (F 키)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필드 콘텐츠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점프 코스 · 수집품</a:t>
            </a:r>
          </a:p>
        </p:txBody>
      </p:sp>
      <p:pic>
        <p:nvPicPr>
          <p:cNvPr id="4" name="Picture 3" descr="점프코스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7406640" cy="4168449"/>
          </a:xfrm>
          <a:prstGeom prst="roundRect">
            <a:avLst>
              <a:gd name="adj" fmla="val 4500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8321040" y="1737360"/>
            <a:ext cx="3246120" cy="416844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0" y="196596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점프 코스를 넘어</a:t>
            </a:r>
          </a:p>
          <a:p>
            <a:pPr algn="l">
              <a:lnSpc>
                <a:spcPct val="120000"/>
              </a:lnSpc>
            </a:pPr>
            <a:r>
              <a:rPr sz="16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숨겨진 보물을 찾는다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2834639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점프 코스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3163823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통나무 · 돌담 · 개울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3456432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필드 곳곳에 배치, Space로 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858768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숨겨진 수집품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4187952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황금 말굽 문양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480559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모으면 특별 치장 보상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928616"/>
            <a:ext cx="2788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필드에서 유일한 실력 요소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탐험할 이유를 만드는 장치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필드 콘텐츠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마을 퀘스트</a:t>
            </a:r>
          </a:p>
        </p:txBody>
      </p:sp>
      <p:pic>
        <p:nvPicPr>
          <p:cNvPr id="4" name="Picture 3" descr="퀘스트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7406640" cy="4168449"/>
          </a:xfrm>
          <a:prstGeom prst="roundRect">
            <a:avLst>
              <a:gd name="adj" fmla="val 4500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8321040" y="1737360"/>
            <a:ext cx="3246120" cy="416844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0" y="196596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마을에서 의뢰를 받아</a:t>
            </a:r>
          </a:p>
          <a:p>
            <a:pPr algn="l">
              <a:lnSpc>
                <a:spcPct val="120000"/>
              </a:lnSpc>
            </a:pPr>
            <a:r>
              <a:rPr sz="16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필드를 누빈다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2834639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수주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3163823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퀘스트 게시판 · 마을 NPC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3456432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마을마다 여러 종류의 퀘스트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858768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보상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4187952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돈 · 재료 · 아이템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480559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육성과 치장으로 이어짐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928616"/>
            <a:ext cx="2788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퀘스트 종류와 내용은 상세 설계 예정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먹이로 키우는 육성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070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모든 성장은 레이스 성능으로 이어진다</a:t>
            </a:r>
          </a:p>
        </p:txBody>
      </p:sp>
      <p:sp>
        <p:nvSpPr>
          <p:cNvPr id="4" name="Oval 3"/>
          <p:cNvSpPr/>
          <p:nvPr/>
        </p:nvSpPr>
        <p:spPr>
          <a:xfrm>
            <a:off x="1028700" y="1943100"/>
            <a:ext cx="1143000" cy="1143000"/>
          </a:xfrm>
          <a:prstGeom prst="ellipse">
            <a:avLst/>
          </a:prstGeom>
          <a:solidFill>
            <a:srgbClr val="E87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과일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600200" y="3182112"/>
            <a:ext cx="0" cy="429768"/>
          </a:xfrm>
          <a:prstGeom prst="line">
            <a:avLst/>
          </a:prstGeom>
          <a:ln w="22225">
            <a:solidFill>
              <a:srgbClr val="FBF5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914400" y="3657600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속도</a:t>
            </a:r>
          </a:p>
        </p:txBody>
      </p:sp>
      <p:sp>
        <p:nvSpPr>
          <p:cNvPr id="7" name="Oval 6"/>
          <p:cNvSpPr/>
          <p:nvPr/>
        </p:nvSpPr>
        <p:spPr>
          <a:xfrm>
            <a:off x="2811780" y="1943100"/>
            <a:ext cx="1143000" cy="1143000"/>
          </a:xfrm>
          <a:prstGeom prst="ellipse">
            <a:avLst/>
          </a:prstGeom>
          <a:solidFill>
            <a:srgbClr val="E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채소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83280" y="3182112"/>
            <a:ext cx="0" cy="429768"/>
          </a:xfrm>
          <a:prstGeom prst="line">
            <a:avLst/>
          </a:prstGeom>
          <a:ln w="22225">
            <a:solidFill>
              <a:srgbClr val="FBF5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97480" y="3657600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지구력</a:t>
            </a:r>
          </a:p>
        </p:txBody>
      </p:sp>
      <p:sp>
        <p:nvSpPr>
          <p:cNvPr id="10" name="Oval 9"/>
          <p:cNvSpPr/>
          <p:nvPr/>
        </p:nvSpPr>
        <p:spPr>
          <a:xfrm>
            <a:off x="4594860" y="1943100"/>
            <a:ext cx="1143000" cy="1143000"/>
          </a:xfrm>
          <a:prstGeom prst="ellipse">
            <a:avLst/>
          </a:prstGeom>
          <a:solidFill>
            <a:srgbClr val="D8C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곡물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66360" y="3182112"/>
            <a:ext cx="0" cy="429768"/>
          </a:xfrm>
          <a:prstGeom prst="line">
            <a:avLst/>
          </a:prstGeom>
          <a:ln w="22225">
            <a:solidFill>
              <a:srgbClr val="FBF5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480560" y="3657600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순발력</a:t>
            </a:r>
          </a:p>
        </p:txBody>
      </p:sp>
      <p:sp>
        <p:nvSpPr>
          <p:cNvPr id="13" name="Oval 12"/>
          <p:cNvSpPr/>
          <p:nvPr/>
        </p:nvSpPr>
        <p:spPr>
          <a:xfrm>
            <a:off x="6377940" y="1943100"/>
            <a:ext cx="1143000" cy="1143000"/>
          </a:xfrm>
          <a:prstGeom prst="ellipse">
            <a:avLst/>
          </a:prstGeom>
          <a:solidFill>
            <a:srgbClr val="B08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견과류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0" y="3182112"/>
            <a:ext cx="0" cy="429768"/>
          </a:xfrm>
          <a:prstGeom prst="line">
            <a:avLst/>
          </a:prstGeom>
          <a:ln w="22225">
            <a:solidFill>
              <a:srgbClr val="FBF5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63640" y="3657600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점프력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691640"/>
            <a:ext cx="3474720" cy="96012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1691640"/>
            <a:ext cx="31089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밥 (사료)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경험치 → 레벨업, 모든 능력치 소폭 상승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2788920"/>
            <a:ext cx="3474720" cy="96012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2788920"/>
            <a:ext cx="31089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포만감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한 번에 먹일 수 있는 양 제한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886200"/>
            <a:ext cx="3474720" cy="96012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21040" y="3886200"/>
            <a:ext cx="31089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교배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망아지가 부모 능력치 일부 계승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4983480"/>
            <a:ext cx="3474720" cy="96012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21040" y="4983480"/>
            <a:ext cx="31089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치장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재료로 제작, 외형만 변경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663440"/>
            <a:ext cx="68580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어떤 음식을 주느냐에 따라 속도형 · 지구력형 · 점프형으로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같은 말도 다르게 키울 수 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기수 성장 · 말 특성 · 기능 장비는 넣지 않아 레이싱에 집중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vill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게임 전체 구조 — 성장 루프</a:t>
            </a:r>
          </a:p>
        </p:txBody>
      </p:sp>
      <p:sp>
        <p:nvSpPr>
          <p:cNvPr id="4" name="Oval 3"/>
          <p:cNvSpPr/>
          <p:nvPr/>
        </p:nvSpPr>
        <p:spPr>
          <a:xfrm>
            <a:off x="5298948" y="1531619"/>
            <a:ext cx="1600200" cy="16002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22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필드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36008" y="322783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파밍 · 퀘스트 · 수집품</a:t>
            </a:r>
          </a:p>
        </p:txBody>
      </p:sp>
      <p:sp>
        <p:nvSpPr>
          <p:cNvPr id="6" name="Oval 5"/>
          <p:cNvSpPr/>
          <p:nvPr/>
        </p:nvSpPr>
        <p:spPr>
          <a:xfrm>
            <a:off x="8252460" y="4000500"/>
            <a:ext cx="1600200" cy="16002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22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마을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569671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먹이 · 치장 · 교배</a:t>
            </a:r>
          </a:p>
        </p:txBody>
      </p:sp>
      <p:sp>
        <p:nvSpPr>
          <p:cNvPr id="8" name="Oval 7"/>
          <p:cNvSpPr/>
          <p:nvPr/>
        </p:nvSpPr>
        <p:spPr>
          <a:xfrm>
            <a:off x="2336292" y="4000500"/>
            <a:ext cx="1600200" cy="16002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22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레이스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3352" y="569671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대회 · 상금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03720" y="2880360"/>
            <a:ext cx="1371600" cy="1280160"/>
          </a:xfrm>
          <a:prstGeom prst="line">
            <a:avLst/>
          </a:prstGeom>
          <a:ln w="28575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977639" y="4800600"/>
            <a:ext cx="4251961" cy="0"/>
          </a:xfrm>
          <a:prstGeom prst="line">
            <a:avLst/>
          </a:prstGeom>
          <a:ln w="28575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86200" y="2880360"/>
            <a:ext cx="1417320" cy="1280160"/>
          </a:xfrm>
          <a:prstGeom prst="line">
            <a:avLst/>
          </a:prstGeom>
          <a:ln w="28575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18120" y="31089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재료 · 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44348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강해진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1089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상금 · 다시 탐험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9144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다음 단계</a:t>
            </a:r>
          </a:p>
        </p:txBody>
      </p:sp>
      <p:sp>
        <p:nvSpPr>
          <p:cNvPr id="4" name="Oval 3"/>
          <p:cNvSpPr/>
          <p:nvPr/>
        </p:nvSpPr>
        <p:spPr>
          <a:xfrm>
            <a:off x="905256" y="1609343"/>
            <a:ext cx="566928" cy="566928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1508760"/>
            <a:ext cx="6400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기승 조작 프로토타입</a:t>
            </a:r>
          </a:p>
          <a:p>
            <a:pPr algn="l">
              <a:lnSpc>
                <a:spcPct val="110000"/>
              </a:lnSpc>
            </a:pP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구보 · 습보 · 리듬 손맛 검증</a:t>
            </a:r>
          </a:p>
        </p:txBody>
      </p:sp>
      <p:sp>
        <p:nvSpPr>
          <p:cNvPr id="6" name="Oval 5"/>
          <p:cNvSpPr/>
          <p:nvPr/>
        </p:nvSpPr>
        <p:spPr>
          <a:xfrm>
            <a:off x="905256" y="2615184"/>
            <a:ext cx="566928" cy="566928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514600"/>
            <a:ext cx="6400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콘텐츠 상세 설계</a:t>
            </a:r>
          </a:p>
          <a:p>
            <a:pPr algn="l">
              <a:lnSpc>
                <a:spcPct val="110000"/>
              </a:lnSpc>
            </a:pP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마을 콘셉트 · 퀘스트 · 교배 규칙</a:t>
            </a:r>
          </a:p>
        </p:txBody>
      </p:sp>
      <p:sp>
        <p:nvSpPr>
          <p:cNvPr id="8" name="Oval 7"/>
          <p:cNvSpPr/>
          <p:nvPr/>
        </p:nvSpPr>
        <p:spPr>
          <a:xfrm>
            <a:off x="905256" y="3621024"/>
            <a:ext cx="566928" cy="566928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520440"/>
            <a:ext cx="6400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아트 방향 수립</a:t>
            </a:r>
          </a:p>
          <a:p>
            <a:pPr algn="l">
              <a:lnSpc>
                <a:spcPct val="110000"/>
              </a:lnSpc>
            </a:pP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말 모델링 · 배경 퀄리티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3776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1249</Words>
  <Application>Microsoft Office PowerPoint</Application>
  <PresentationFormat>와이드스크린</PresentationFormat>
  <Paragraphs>230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Pretendard SemiBold</vt:lpstr>
      <vt:lpstr>Arial</vt:lpstr>
      <vt:lpstr>Pretendard ExtraBold</vt:lpstr>
      <vt:lpstr>Calibri</vt:lpstr>
      <vt:lpstr>Pretendard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김경준(2022184005)</cp:lastModifiedBy>
  <cp:revision>2</cp:revision>
  <dcterms:created xsi:type="dcterms:W3CDTF">2013-01-27T09:14:16Z</dcterms:created>
  <dcterms:modified xsi:type="dcterms:W3CDTF">2026-10-25T16:56:23Z</dcterms:modified>
  <cp:category/>
</cp:coreProperties>
</file>