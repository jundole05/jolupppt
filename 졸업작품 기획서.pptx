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retendard Black"/>
      <p:bold r:id="rId16"/>
    </p:embeddedFont>
    <p:embeddedFont>
      <p:font typeface="Pretendard Regular"/>
      <p:regular r:id="rId17"/>
    </p:embeddedFont>
    <p:embeddedFont>
      <p:font typeface="Pretendard SemiBold"/>
      <p:bold r:id="rId18"/>
    </p:embeddedFont>
    <p:embeddedFont>
      <p:font typeface="Pretendard Medium"/>
      <p:bold r:id="rId19"/>
    </p:embeddedFont>
    <p:embeddedFont>
      <p:font typeface="Pretendard ExtraLight"/>
      <p:regular r:id="rId20"/>
    </p:embeddedFont>
    <p:embeddedFont>
      <p:font typeface="Pretendard Bold"/>
      <p:bold r:id="rId21"/>
    </p:embeddedFont>
    <p:embeddedFont>
      <p:font typeface="Pretendard ExtraBold"/>
      <p:bold r:id="rId22"/>
    </p:embeddedFont>
    <p:embeddedFont>
      <p:font typeface="Pretendard Light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.fntdata" Type="http://schemas.openxmlformats.org/officeDocument/2006/relationships/font"/><Relationship Id="rId17" Target="fonts/font2.fntdata" Type="http://schemas.openxmlformats.org/officeDocument/2006/relationships/font"/><Relationship Id="rId18" Target="fonts/font3.fntdata" Type="http://schemas.openxmlformats.org/officeDocument/2006/relationships/font"/><Relationship Id="rId19" Target="fonts/font4.fntdata" Type="http://schemas.openxmlformats.org/officeDocument/2006/relationships/font"/><Relationship Id="rId2" Target="presProps.xml" Type="http://schemas.openxmlformats.org/officeDocument/2006/relationships/presProps"/><Relationship Id="rId20" Target="fonts/font5.fntdata" Type="http://schemas.openxmlformats.org/officeDocument/2006/relationships/font"/><Relationship Id="rId21" Target="fonts/font6.fntdata" Type="http://schemas.openxmlformats.org/officeDocument/2006/relationships/font"/><Relationship Id="rId22" Target="fonts/font7.fntdata" Type="http://schemas.openxmlformats.org/officeDocument/2006/relationships/font"/><Relationship Id="rId23" Target="fonts/font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svg" Type="http://schemas.openxmlformats.org/officeDocument/2006/relationships/image"/><Relationship Id="rId7" Target="../media/image6.svg" Type="http://schemas.openxmlformats.org/officeDocument/2006/relationships/image"/><Relationship Id="rId8" Target="../media/image7.sv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1.png" Type="http://schemas.openxmlformats.org/officeDocument/2006/relationships/image"/><Relationship Id="rId13" Target="../media/image20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1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svg" Type="http://schemas.openxmlformats.org/officeDocument/2006/relationships/image"/><Relationship Id="rId12" Target="../media/image44.png" Type="http://schemas.openxmlformats.org/officeDocument/2006/relationships/image"/><Relationship Id="rId13" Target="../media/image45.png" Type="http://schemas.openxmlformats.org/officeDocument/2006/relationships/image"/><Relationship Id="rId14" Target="../media/image46.png" Type="http://schemas.openxmlformats.org/officeDocument/2006/relationships/image"/><Relationship Id="rId15" Target="../media/image47.png" Type="http://schemas.openxmlformats.org/officeDocument/2006/relationships/image"/><Relationship Id="rId16" Target="../media/image48.svg" Type="http://schemas.openxmlformats.org/officeDocument/2006/relationships/image"/><Relationship Id="rId17" Target="../media/image49.png" Type="http://schemas.openxmlformats.org/officeDocument/2006/relationships/image"/><Relationship Id="rId18" Target="../media/image50.svg" Type="http://schemas.openxmlformats.org/officeDocument/2006/relationships/image"/><Relationship Id="rId19" Target="../media/image51.png" Type="http://schemas.openxmlformats.org/officeDocument/2006/relationships/image"/><Relationship Id="rId2" Target="../media/image34.png" Type="http://schemas.openxmlformats.org/officeDocument/2006/relationships/image"/><Relationship Id="rId20" Target="../media/image1.png" Type="http://schemas.openxmlformats.org/officeDocument/2006/relationships/image"/><Relationship Id="rId21" Target="../media/image20.svg" Type="http://schemas.openxmlformats.org/officeDocument/2006/relationships/image"/><Relationship Id="rId3" Target="../media/image35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1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svg" Type="http://schemas.openxmlformats.org/officeDocument/2006/relationships/image"/><Relationship Id="rId4" Target="../media/image54.png" Type="http://schemas.openxmlformats.org/officeDocument/2006/relationships/image"/><Relationship Id="rId5" Target="../media/image5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19800" y="3340100"/>
            <a:ext cx="6540500" cy="1409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806" b="false" i="false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졸업작품 기획서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91400" y="6819900"/>
            <a:ext cx="3619500" cy="170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5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2022184005 김경준</a:t>
            </a:r>
          </a:p>
          <a:p>
            <a:pPr algn="l" lvl="0">
              <a:lnSpc>
                <a:spcPct val="116199"/>
              </a:lnSpc>
            </a:pPr>
            <a:r>
              <a:rPr lang="en-US" sz="315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2022180038 정진영</a:t>
            </a:r>
          </a:p>
          <a:p>
            <a:pPr algn="l" lvl="0">
              <a:lnSpc>
                <a:spcPct val="116199"/>
              </a:lnSpc>
            </a:pPr>
            <a:r>
              <a:rPr lang="en-US" sz="315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2024180002 강석주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2300" y="1003300"/>
            <a:ext cx="13462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74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목차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6600" y="596900"/>
            <a:ext cx="4826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12" b="false" i="false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76200" y="1879600"/>
            <a:ext cx="181483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0947400" y="2616200"/>
            <a:ext cx="5308600" cy="50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866900" y="2895600"/>
            <a:ext cx="685800" cy="431800"/>
          </a:xfrm>
          <a:prstGeom prst="rect">
            <a:avLst/>
          </a:prstGeom>
        </p:spPr>
        <p:txBody>
          <a:bodyPr anchor="ctr" rtlCol="false" lIns="0" tIns="29210" rIns="0" bIns="29210"/>
          <a:lstStyle/>
          <a:p>
            <a:pPr algn="l" lvl="0">
              <a:lnSpc>
                <a:spcPct val="99600"/>
              </a:lnSpc>
            </a:pPr>
            <a:r>
              <a:rPr lang="en-US" sz="2300" b="false" i="false" u="none" strike="noStrike" cap="all">
                <a:solidFill>
                  <a:srgbClr val="F65B20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1841500" y="2628900"/>
            <a:ext cx="5308600" cy="5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841500" y="4914900"/>
            <a:ext cx="5308600" cy="5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841500" y="7200900"/>
            <a:ext cx="5308600" cy="50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0972800" y="4914900"/>
            <a:ext cx="5308600" cy="5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1150600" y="7200900"/>
            <a:ext cx="5308600" cy="508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0985500" y="2895600"/>
            <a:ext cx="685800" cy="431800"/>
          </a:xfrm>
          <a:prstGeom prst="rect">
            <a:avLst/>
          </a:prstGeom>
        </p:spPr>
        <p:txBody>
          <a:bodyPr anchor="ctr" rtlCol="false" lIns="0" tIns="29210" rIns="0" bIns="29210"/>
          <a:lstStyle/>
          <a:p>
            <a:pPr algn="l" lvl="0">
              <a:lnSpc>
                <a:spcPct val="99600"/>
              </a:lnSpc>
            </a:pPr>
            <a:r>
              <a:rPr lang="en-US" sz="2300" b="false" i="false" u="none" strike="noStrike" cap="all">
                <a:solidFill>
                  <a:srgbClr val="F65B20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41500" y="5283200"/>
            <a:ext cx="685800" cy="431800"/>
          </a:xfrm>
          <a:prstGeom prst="rect">
            <a:avLst/>
          </a:prstGeom>
        </p:spPr>
        <p:txBody>
          <a:bodyPr anchor="ctr" rtlCol="false" lIns="0" tIns="29210" rIns="0" bIns="29210"/>
          <a:lstStyle/>
          <a:p>
            <a:pPr algn="l" lvl="0">
              <a:lnSpc>
                <a:spcPct val="99600"/>
              </a:lnSpc>
            </a:pPr>
            <a:r>
              <a:rPr lang="en-US" sz="2300" b="false" i="false" u="none" strike="noStrike" cap="all">
                <a:solidFill>
                  <a:srgbClr val="F65B20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23600" y="5283200"/>
            <a:ext cx="685800" cy="431800"/>
          </a:xfrm>
          <a:prstGeom prst="rect">
            <a:avLst/>
          </a:prstGeom>
        </p:spPr>
        <p:txBody>
          <a:bodyPr anchor="ctr" rtlCol="false" lIns="0" tIns="29210" rIns="0" bIns="29210"/>
          <a:lstStyle/>
          <a:p>
            <a:pPr algn="l" lvl="0">
              <a:lnSpc>
                <a:spcPct val="99600"/>
              </a:lnSpc>
            </a:pPr>
            <a:r>
              <a:rPr lang="en-US" sz="2300" b="false" i="false" u="none" strike="noStrike" cap="all">
                <a:solidFill>
                  <a:srgbClr val="F65B20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54200" y="7670800"/>
            <a:ext cx="685800" cy="431800"/>
          </a:xfrm>
          <a:prstGeom prst="rect">
            <a:avLst/>
          </a:prstGeom>
        </p:spPr>
        <p:txBody>
          <a:bodyPr anchor="ctr" rtlCol="false" lIns="0" tIns="29210" rIns="0" bIns="29210"/>
          <a:lstStyle/>
          <a:p>
            <a:pPr algn="l" lvl="0">
              <a:lnSpc>
                <a:spcPct val="99600"/>
              </a:lnSpc>
            </a:pPr>
            <a:r>
              <a:rPr lang="en-US" sz="2300" b="false" i="false" u="none" strike="noStrike" cap="all">
                <a:solidFill>
                  <a:srgbClr val="F65B20"/>
                </a:solidFill>
                <a:latin typeface="Pretendard SemiBold"/>
                <a:ea typeface="Pretendard SemiBold"/>
                <a:cs typeface="Pretendard SemiBold"/>
              </a:rPr>
              <a:t>05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50600" y="7670800"/>
            <a:ext cx="685800" cy="431800"/>
          </a:xfrm>
          <a:prstGeom prst="rect">
            <a:avLst/>
          </a:prstGeom>
        </p:spPr>
        <p:txBody>
          <a:bodyPr anchor="ctr" rtlCol="false" lIns="0" tIns="29210" rIns="0" bIns="29210"/>
          <a:lstStyle/>
          <a:p>
            <a:pPr algn="l" lvl="0">
              <a:lnSpc>
                <a:spcPct val="99600"/>
              </a:lnSpc>
            </a:pPr>
            <a:r>
              <a:rPr lang="en-US" sz="2300" b="false" i="false" u="none" strike="noStrike" cap="all">
                <a:solidFill>
                  <a:srgbClr val="F65B20"/>
                </a:solidFill>
                <a:latin typeface="Pretendard SemiBold"/>
                <a:ea typeface="Pretendard SemiBold"/>
                <a:cs typeface="Pretendard SemiBold"/>
              </a:rPr>
              <a:t>06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80000" y="3238500"/>
            <a:ext cx="9652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5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팀소개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14400" y="3238500"/>
            <a:ext cx="18923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5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개요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46600" y="5626100"/>
            <a:ext cx="16002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5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마을 시스템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76300" y="5600700"/>
            <a:ext cx="20828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5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마을 컨텐츠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03700" y="7721600"/>
            <a:ext cx="21971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5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레이싱 컨텐츠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62000" y="7772400"/>
            <a:ext cx="27813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5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기대효과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051300" y="3733800"/>
            <a:ext cx="1930400" cy="1092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팀원 소개</a:t>
            </a:r>
          </a:p>
          <a:p>
            <a:pPr algn="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고려중인 연구주제</a:t>
            </a:r>
          </a:p>
          <a:p>
            <a:pPr algn="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게임 구현 목표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34900" y="3924300"/>
            <a:ext cx="2870200" cy="736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게임 장르 소개</a:t>
            </a:r>
          </a:p>
          <a:p>
            <a:pPr algn="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게임 및 플랫폼 선택의 이유 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390900" y="6223000"/>
            <a:ext cx="2654300" cy="736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상호작용 시스템</a:t>
            </a:r>
          </a:p>
          <a:p>
            <a:pPr algn="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육성 시스템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34900" y="6057900"/>
            <a:ext cx="2882900" cy="1092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사육</a:t>
            </a:r>
          </a:p>
          <a:p>
            <a:pPr algn="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 교배 </a:t>
            </a:r>
          </a:p>
          <a:p>
            <a:pPr algn="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치장 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43300" y="8255000"/>
            <a:ext cx="2654300" cy="1092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PVP 모드</a:t>
            </a:r>
          </a:p>
          <a:p>
            <a:pPr algn="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솔로 모드</a:t>
            </a:r>
          </a:p>
          <a:p>
            <a:pPr algn="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AI  모드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6100" y="1003300"/>
            <a:ext cx="20193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74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팀 소개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11200" y="596900"/>
            <a:ext cx="5207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12" b="false" i="false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03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079500" y="2654300"/>
            <a:ext cx="4406900" cy="2501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6934200" y="2654300"/>
            <a:ext cx="4406900" cy="2501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12801600" y="2654300"/>
            <a:ext cx="4406900" cy="25019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781300" y="3213100"/>
            <a:ext cx="11176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5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김경준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47900" y="3733800"/>
            <a:ext cx="20574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45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2022184005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2438400" y="4216400"/>
            <a:ext cx="1701800" cy="4826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298700" y="4254500"/>
            <a:ext cx="19558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33" b="false" i="false" u="none" strike="noStrike">
                <a:solidFill>
                  <a:srgbClr val="787878"/>
                </a:solidFill>
                <a:latin typeface="Pretendard ExtraLight"/>
                <a:ea typeface="Pretendard ExtraLight"/>
                <a:cs typeface="Pretendard ExtraLight"/>
              </a:rPr>
              <a:t>클라이언트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61400" y="3213100"/>
            <a:ext cx="11176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5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정진영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28000" y="3733800"/>
            <a:ext cx="20574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45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2022180038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8305800" y="4216400"/>
            <a:ext cx="1701800" cy="4826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8178800" y="4254500"/>
            <a:ext cx="19558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33" b="false" i="false" u="none" strike="noStrike">
                <a:solidFill>
                  <a:srgbClr val="787878"/>
                </a:solidFill>
                <a:latin typeface="Pretendard ExtraLight"/>
                <a:ea typeface="Pretendard ExtraLight"/>
                <a:cs typeface="Pretendard ExtraLight"/>
              </a:rPr>
              <a:t>클라이언트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503400" y="3213100"/>
            <a:ext cx="11176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5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강석주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82700" y="3733800"/>
            <a:ext cx="20574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45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2024180002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4617700" y="4216400"/>
            <a:ext cx="774700" cy="4826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4020800" y="4254500"/>
            <a:ext cx="19558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33" b="false" i="false" u="none" strike="noStrike">
                <a:solidFill>
                  <a:srgbClr val="787878"/>
                </a:solidFill>
                <a:latin typeface="Pretendard ExtraLight"/>
                <a:ea typeface="Pretendard ExtraLight"/>
                <a:cs typeface="Pretendard ExtraLight"/>
              </a:rPr>
              <a:t>서버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1100" y="5816600"/>
            <a:ext cx="24384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71" b="fals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희망 개발 플랫폼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30300" y="6337300"/>
            <a:ext cx="18161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언리얼 엔진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02400" y="6362700"/>
            <a:ext cx="5397500" cy="184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절차적 애니메이션</a:t>
            </a:r>
          </a:p>
          <a:p>
            <a:pPr algn="l" lvl="0">
              <a:lnSpc>
                <a:spcPct val="116199"/>
              </a:lnSpc>
            </a:pPr>
            <a:r>
              <a:rPr lang="en-US" sz="2546" b="fals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AI </a:t>
            </a:r>
          </a:p>
          <a:p>
            <a:pPr algn="l" lvl="0">
              <a:lnSpc>
                <a:spcPct val="116199"/>
              </a:lnSpc>
            </a:pPr>
            <a:r>
              <a:rPr lang="en-US" sz="2546" b="fals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모션인식</a:t>
            </a:r>
          </a:p>
          <a:p>
            <a:pPr algn="l" lvl="0">
              <a:lnSpc>
                <a:spcPct val="116199"/>
              </a:lnSpc>
            </a:pPr>
            <a:r>
              <a:rPr lang="en-US" sz="2546" b="fals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이외에도 게임에 잘 녹여낼 만한 기술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048500" y="5842000"/>
            <a:ext cx="28321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69" b="fals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고려 중인 연구 주제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88900" y="5803900"/>
            <a:ext cx="29464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69" b="fals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게임 구현 목표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68200" y="6413500"/>
            <a:ext cx="5397500" cy="184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-AI의 행동 패턴 및 알고리즘 구현</a:t>
            </a:r>
          </a:p>
          <a:p>
            <a:pPr algn="l" lvl="0">
              <a:lnSpc>
                <a:spcPct val="116199"/>
              </a:lnSpc>
            </a:pPr>
            <a:r>
              <a:rPr lang="en-US" sz="2546" b="fals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-플레이어의 실력에 알맞은 유동적인 AI</a:t>
            </a:r>
          </a:p>
          <a:p>
            <a:pPr algn="l" lvl="0">
              <a:lnSpc>
                <a:spcPct val="116199"/>
              </a:lnSpc>
            </a:pPr>
            <a:r>
              <a:rPr lang="en-US" sz="2546" b="fals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-플레이어 간 실시간 대결 및 
  네트워크 동기화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76200" y="1879600"/>
            <a:ext cx="181483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9400" y="1003300"/>
            <a:ext cx="37719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74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11200" y="596900"/>
            <a:ext cx="5207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12" b="false" i="false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04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76200" y="1879600"/>
            <a:ext cx="181483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2921000"/>
            <a:ext cx="5283200" cy="27432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736600" y="6286500"/>
            <a:ext cx="5384800" cy="508000"/>
          </a:xfrm>
          <a:prstGeom prst="rect">
            <a:avLst/>
          </a:prstGeom>
        </p:spPr>
        <p:txBody>
          <a:bodyPr anchor="b" rtlCol="false" lIns="0" tIns="0" rIns="0" bIns="34290"/>
          <a:lstStyle/>
          <a:p>
            <a:pPr algn="ctr" lvl="0">
              <a:lnSpc>
                <a:spcPct val="99600"/>
              </a:lnSpc>
            </a:pPr>
            <a:r>
              <a:rPr lang="en-US" sz="2700" b="false" i="false" u="none" strike="noStrike">
                <a:solidFill>
                  <a:srgbClr val="18A8F1"/>
                </a:solidFill>
                <a:latin typeface="Pretendard Bold"/>
                <a:ea typeface="Pretendard Bold"/>
                <a:cs typeface="Pretendard Bold"/>
              </a:rPr>
              <a:t>플랫폼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6600" y="6883400"/>
            <a:ext cx="5372100" cy="2006600"/>
          </a:xfrm>
          <a:prstGeom prst="rect">
            <a:avLst/>
          </a:prstGeom>
        </p:spPr>
        <p:txBody>
          <a:bodyPr anchor="t" rtlCol="false" lIns="0" tIns="2667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언리얼 엔진 사용</a:t>
            </a:r>
          </a:p>
          <a:p>
            <a:pPr algn="ctr" lvl="0">
              <a:lnSpc>
                <a:spcPct val="99600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고품질 3D 그래픽 구현</a:t>
            </a:r>
          </a:p>
          <a:p>
            <a:pPr algn="ctr" lvl="0">
              <a:lnSpc>
                <a:spcPct val="99600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실시간 렌더링 지원</a:t>
            </a:r>
          </a:p>
          <a:p>
            <a:pPr algn="ctr" lvl="0">
              <a:lnSpc>
                <a:spcPct val="99600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물리 엔진 활용</a:t>
            </a:r>
          </a:p>
          <a:p>
            <a:pPr algn="ctr" lvl="0">
              <a:lnSpc>
                <a:spcPct val="99600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애니메이션 시스템 통합</a:t>
            </a:r>
          </a:p>
          <a:p>
            <a:pPr algn="ctr" lvl="0">
              <a:lnSpc>
                <a:spcPct val="99600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네트워크 기능 제공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21500" y="2933700"/>
            <a:ext cx="5283200" cy="27432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6908800" y="6908800"/>
            <a:ext cx="5372100" cy="2006600"/>
          </a:xfrm>
          <a:prstGeom prst="rect">
            <a:avLst/>
          </a:prstGeom>
        </p:spPr>
        <p:txBody>
          <a:bodyPr anchor="t" rtlCol="false" lIns="0" tIns="2667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클라이언트 2개 구성</a:t>
            </a:r>
          </a:p>
          <a:p>
            <a:pPr algn="ctr" lvl="0">
              <a:lnSpc>
                <a:spcPct val="99600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서버 1개 운영</a:t>
            </a:r>
          </a:p>
          <a:p>
            <a:pPr algn="ctr" lvl="0">
              <a:lnSpc>
                <a:spcPct val="99600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멀티플레이 지원</a:t>
            </a:r>
          </a:p>
          <a:p>
            <a:pPr algn="ctr" lvl="0">
              <a:lnSpc>
                <a:spcPct val="99600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실시간 동기화</a:t>
            </a:r>
          </a:p>
          <a:p>
            <a:pPr algn="ctr" lvl="0">
              <a:lnSpc>
                <a:spcPct val="99600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안정적인 통신 구조</a:t>
            </a:r>
          </a:p>
          <a:p>
            <a:pPr algn="ctr" lvl="0">
              <a:lnSpc>
                <a:spcPct val="99600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PVP 대전 가능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08800" y="6311900"/>
            <a:ext cx="5384800" cy="508000"/>
          </a:xfrm>
          <a:prstGeom prst="rect">
            <a:avLst/>
          </a:prstGeom>
        </p:spPr>
        <p:txBody>
          <a:bodyPr anchor="b" rtlCol="false" lIns="0" tIns="0" rIns="0" bIns="34290"/>
          <a:lstStyle/>
          <a:p>
            <a:pPr algn="ctr" lvl="0">
              <a:lnSpc>
                <a:spcPct val="99600"/>
              </a:lnSpc>
            </a:pPr>
            <a:r>
              <a:rPr lang="en-US" sz="2700" b="false" i="false" u="none" strike="noStrike">
                <a:solidFill>
                  <a:srgbClr val="18A8F1"/>
                </a:solidFill>
                <a:latin typeface="Pretendard Bold"/>
                <a:ea typeface="Pretendard Bold"/>
                <a:cs typeface="Pretendard Bold"/>
              </a:rPr>
              <a:t>네트워크 구조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979400" y="2933700"/>
            <a:ext cx="4686300" cy="2781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3246100" y="6832600"/>
            <a:ext cx="3810000" cy="189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동물 육성 시뮬레이션</a:t>
            </a:r>
          </a:p>
          <a:p>
            <a:pPr algn="ctr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레이싱 경주 게임</a:t>
            </a:r>
          </a:p>
          <a:p>
            <a:pPr algn="ctr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육성과 경쟁의 결합</a:t>
            </a:r>
          </a:p>
          <a:p>
            <a:pPr algn="ctr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전략적 플레이 요소</a:t>
            </a:r>
          </a:p>
          <a:p>
            <a:pPr algn="ctr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다양한 게임 모드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69800" y="6248400"/>
            <a:ext cx="5384800" cy="508000"/>
          </a:xfrm>
          <a:prstGeom prst="rect">
            <a:avLst/>
          </a:prstGeom>
        </p:spPr>
        <p:txBody>
          <a:bodyPr anchor="b" rtlCol="false" lIns="0" tIns="0" rIns="0" bIns="34290"/>
          <a:lstStyle/>
          <a:p>
            <a:pPr algn="ctr" lvl="0">
              <a:lnSpc>
                <a:spcPct val="99600"/>
              </a:lnSpc>
            </a:pPr>
            <a:r>
              <a:rPr lang="en-US" sz="2700" b="false" i="false" u="none" strike="noStrike">
                <a:solidFill>
                  <a:srgbClr val="18A8F1"/>
                </a:solidFill>
                <a:latin typeface="Pretendard Bold"/>
                <a:ea typeface="Pretendard Bold"/>
                <a:cs typeface="Pretendard Bold"/>
              </a:rPr>
              <a:t>게임 장르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9400" y="1003300"/>
            <a:ext cx="37719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74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23900" y="596900"/>
            <a:ext cx="4953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12" b="false" i="false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05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76200" y="1879600"/>
            <a:ext cx="181483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76300" y="4572000"/>
            <a:ext cx="3695700" cy="558800"/>
          </a:xfrm>
          <a:prstGeom prst="rect">
            <a:avLst/>
          </a:prstGeom>
        </p:spPr>
        <p:txBody>
          <a:bodyPr anchor="ctr" rtlCol="false" lIns="0" tIns="38100" rIns="0" bIns="38100"/>
          <a:lstStyle/>
          <a:p>
            <a:pPr algn="ctr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18A8F1"/>
                </a:solidFill>
                <a:latin typeface="Pretendard Bold"/>
                <a:ea typeface="Pretendard Bold"/>
                <a:cs typeface="Pretendard Bold"/>
              </a:rPr>
              <a:t>AI 구현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9000" y="5524500"/>
            <a:ext cx="36576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경쟁형 주행 AI</a:t>
            </a:r>
          </a:p>
          <a:p>
            <a:pPr algn="ctr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말의 자율 행동</a:t>
            </a:r>
          </a:p>
          <a:p>
            <a:pPr algn="ctr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게임 플레이 AI 기술 탐구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30800" y="4572000"/>
            <a:ext cx="3695700" cy="558800"/>
          </a:xfrm>
          <a:prstGeom prst="rect">
            <a:avLst/>
          </a:prstGeom>
        </p:spPr>
        <p:txBody>
          <a:bodyPr anchor="ctr" rtlCol="false" lIns="0" tIns="38100" rIns="0" bIns="38100"/>
          <a:lstStyle/>
          <a:p>
            <a:pPr algn="ctr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18A8F1"/>
                </a:solidFill>
                <a:latin typeface="Pretendard Bold"/>
                <a:ea typeface="Pretendard Bold"/>
                <a:cs typeface="Pretendard Bold"/>
              </a:rPr>
              <a:t>절차적 애니메이션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56200" y="5524500"/>
            <a:ext cx="3657600" cy="200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지형과의 실시간 상호작용</a:t>
            </a:r>
          </a:p>
          <a:p>
            <a:pPr algn="ctr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기존 방식의 한계 극복</a:t>
            </a:r>
          </a:p>
          <a:p>
            <a:pPr algn="ctr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애니메이션 리소스 최소화</a:t>
            </a:r>
          </a:p>
          <a:p>
            <a:pPr algn="ctr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캐릭터와 환경 간의 상호작용 
극대화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0" y="4572000"/>
            <a:ext cx="3695700" cy="558800"/>
          </a:xfrm>
          <a:prstGeom prst="rect">
            <a:avLst/>
          </a:prstGeom>
        </p:spPr>
        <p:txBody>
          <a:bodyPr anchor="ctr" rtlCol="false" lIns="0" tIns="38100" rIns="0" bIns="38100"/>
          <a:lstStyle/>
          <a:p>
            <a:pPr algn="ctr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18A8F1"/>
                </a:solidFill>
                <a:latin typeface="Pretendard Bold"/>
                <a:ea typeface="Pretendard Bold"/>
                <a:cs typeface="Pretendard Bold"/>
              </a:rPr>
              <a:t>신기술 습득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37700" y="5524500"/>
            <a:ext cx="3657600" cy="280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교수님 추천 주제 탐색
- 차세대 기술의 실전 적용
- 대규모 최적화 및 연산 기술</a:t>
            </a:r>
          </a:p>
          <a:p>
            <a:pPr algn="ctr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다이렉트X로는 졸작 기간내에
현실적으로 불가능한 기술 활용이
언리얼에서는 가능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  <a:p>
            <a:pPr algn="ctr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43000" y="4572000"/>
            <a:ext cx="3695700" cy="558800"/>
          </a:xfrm>
          <a:prstGeom prst="rect">
            <a:avLst/>
          </a:prstGeom>
        </p:spPr>
        <p:txBody>
          <a:bodyPr anchor="ctr" rtlCol="false" lIns="0" tIns="38100" rIns="0" bIns="38100"/>
          <a:lstStyle/>
          <a:p>
            <a:pPr algn="ctr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18A8F1"/>
                </a:solidFill>
                <a:latin typeface="Pretendard Bold"/>
                <a:ea typeface="Pretendard Bold"/>
                <a:cs typeface="Pretendard Bold"/>
              </a:rPr>
              <a:t>실제 구현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55700" y="5524500"/>
            <a:ext cx="36576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졸업작품 프로젝트 진행</a:t>
            </a:r>
          </a:p>
          <a:p>
            <a:pPr algn="ctr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이론의 실제 적용
- 독창적인 시스템의 기술적 증명
- 완성도 높은 플레이 경험 구축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2336800" y="3289300"/>
            <a:ext cx="787400" cy="787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6731000" y="3441700"/>
            <a:ext cx="495300" cy="495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0972800" y="3302000"/>
            <a:ext cx="787400" cy="787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5303500" y="3302000"/>
            <a:ext cx="787400" cy="7874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282700" y="2324100"/>
            <a:ext cx="15722600" cy="914400"/>
          </a:xfrm>
          <a:prstGeom prst="rect">
            <a:avLst/>
          </a:prstGeom>
        </p:spPr>
        <p:txBody>
          <a:bodyPr anchor="ctr" rtlCol="false" lIns="0" tIns="63500" rIns="0" bIns="63500"/>
          <a:lstStyle/>
          <a:p>
            <a:pPr algn="ctr" lvl="0">
              <a:lnSpc>
                <a:spcPct val="99600"/>
              </a:lnSpc>
            </a:pPr>
            <a:r>
              <a:rPr lang="en-US" sz="5000" b="false" i="false" u="none" strike="noStrike">
                <a:solidFill>
                  <a:srgbClr val="18A8F1"/>
                </a:solidFill>
                <a:latin typeface="Pretendard ExtraBold"/>
                <a:ea typeface="Pretendard ExtraBold"/>
                <a:cs typeface="Pretendard ExtraBold"/>
              </a:rPr>
              <a:t>게임 및 플랫폼 선택의 이유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82700" y="2133600"/>
            <a:ext cx="15722600" cy="914400"/>
          </a:xfrm>
          <a:prstGeom prst="rect">
            <a:avLst/>
          </a:prstGeom>
        </p:spPr>
        <p:txBody>
          <a:bodyPr anchor="ctr" rtlCol="false" lIns="0" tIns="63500" rIns="0" bIns="63500"/>
          <a:lstStyle/>
          <a:p>
            <a:pPr algn="ctr" lvl="0">
              <a:lnSpc>
                <a:spcPct val="99600"/>
              </a:lnSpc>
            </a:pPr>
            <a:r>
              <a:rPr lang="en-US" sz="5000" b="false" i="false" u="none" strike="noStrike">
                <a:solidFill>
                  <a:srgbClr val="18A8F1"/>
                </a:solidFill>
                <a:latin typeface="Pretendard ExtraBold"/>
                <a:ea typeface="Pretendard ExtraBold"/>
                <a:cs typeface="Pretendard ExtraBold"/>
              </a:rPr>
              <a:t>게임 컨텐츠 구성 - 마을 시스템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20700" y="3416300"/>
            <a:ext cx="7988300" cy="2997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20700" y="6807200"/>
            <a:ext cx="7988300" cy="29972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991600" y="3860800"/>
            <a:ext cx="8890000" cy="508000"/>
          </a:xfrm>
          <a:prstGeom prst="rect">
            <a:avLst/>
          </a:prstGeom>
        </p:spPr>
        <p:txBody>
          <a:bodyPr anchor="b" rtlCol="false" lIns="0" tIns="0" rIns="0" bIns="34290"/>
          <a:lstStyle/>
          <a:p>
            <a:pPr algn="l" lvl="0">
              <a:lnSpc>
                <a:spcPct val="99600"/>
              </a:lnSpc>
            </a:pPr>
            <a:r>
              <a:rPr lang="en-US" sz="2700" b="false" i="false" u="none" strike="noStrike">
                <a:solidFill>
                  <a:srgbClr val="18A8F1"/>
                </a:solidFill>
                <a:latin typeface="Pretendard Bold"/>
                <a:ea typeface="Pretendard Bold"/>
                <a:cs typeface="Pretendard Bold"/>
              </a:rPr>
              <a:t>마을의 역할과 기능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91600" y="4737100"/>
            <a:ext cx="88646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게임의 핵심 육성 공간으로 기능</a:t>
            </a:r>
          </a:p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말의 성장과 관리가 이루어지는 중심지</a:t>
            </a:r>
          </a:p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레이싱 준비를 위한 기반 시스템 제공</a:t>
            </a:r>
          </a:p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다양한 육성 컨텐츠가 집중된 허브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91600" y="7239000"/>
            <a:ext cx="8890000" cy="508000"/>
          </a:xfrm>
          <a:prstGeom prst="rect">
            <a:avLst/>
          </a:prstGeom>
        </p:spPr>
        <p:txBody>
          <a:bodyPr anchor="b" rtlCol="false" lIns="0" tIns="0" rIns="0" bIns="34290"/>
          <a:lstStyle/>
          <a:p>
            <a:pPr algn="l" lvl="0">
              <a:lnSpc>
                <a:spcPct val="99600"/>
              </a:lnSpc>
            </a:pPr>
            <a:r>
              <a:rPr lang="en-US" sz="2700" b="false" i="false" u="none" strike="noStrike">
                <a:solidFill>
                  <a:srgbClr val="18A8F1"/>
                </a:solidFill>
                <a:latin typeface="Pretendard Bold"/>
                <a:ea typeface="Pretendard Bold"/>
                <a:cs typeface="Pretendard Bold"/>
              </a:rPr>
              <a:t>플레이어 상호작용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91600" y="8115300"/>
            <a:ext cx="88646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플레이어와 동물 간 직접적 상호작용</a:t>
            </a:r>
          </a:p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밥먹이기, 교배, 치장 등 관리 활동</a:t>
            </a:r>
          </a:p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애착 형성 및 육성 재미 제공</a:t>
            </a:r>
          </a:p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전략적 선택을 통한 능력치 향상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8300" y="1003300"/>
            <a:ext cx="31877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74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마을 시스템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3900" y="596900"/>
            <a:ext cx="5207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12" b="false" i="false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06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76200" y="1879600"/>
            <a:ext cx="181483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1226800" y="4686300"/>
            <a:ext cx="419100" cy="419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8864600" y="2882900"/>
            <a:ext cx="4978400" cy="1727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15500" y="3644900"/>
            <a:ext cx="3289300" cy="736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312400" y="3086100"/>
            <a:ext cx="20828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8864600" y="5207000"/>
            <a:ext cx="4978400" cy="1727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575800" y="5943600"/>
            <a:ext cx="3721100" cy="736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312400" y="5397500"/>
            <a:ext cx="2082800" cy="596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8864600" y="7518400"/>
            <a:ext cx="4978400" cy="1727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715500" y="8280400"/>
            <a:ext cx="3289300" cy="736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312400" y="7708900"/>
            <a:ext cx="2082800" cy="596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1226800" y="7010400"/>
            <a:ext cx="419100" cy="419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6858000" y="5676900"/>
            <a:ext cx="381000" cy="571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3644900" y="4800600"/>
            <a:ext cx="2349500" cy="2349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3517900" y="5448300"/>
            <a:ext cx="2603500" cy="10160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368300" y="1003300"/>
            <a:ext cx="31877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74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마을 컨텐츠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9300" y="596900"/>
            <a:ext cx="4572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12" b="false" i="false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07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>
            <a:off x="76200" y="1879600"/>
            <a:ext cx="181483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82700" y="2133600"/>
            <a:ext cx="15722600" cy="914400"/>
          </a:xfrm>
          <a:prstGeom prst="rect">
            <a:avLst/>
          </a:prstGeom>
        </p:spPr>
        <p:txBody>
          <a:bodyPr anchor="ctr" rtlCol="false" lIns="0" tIns="63500" rIns="0" bIns="63500"/>
          <a:lstStyle/>
          <a:p>
            <a:pPr algn="ctr" lvl="0">
              <a:lnSpc>
                <a:spcPct val="99600"/>
              </a:lnSpc>
            </a:pPr>
            <a:r>
              <a:rPr lang="en-US" sz="5000" b="false" i="false" u="none" strike="noStrike">
                <a:solidFill>
                  <a:srgbClr val="18A8F1"/>
                </a:solidFill>
                <a:latin typeface="Pretendard ExtraBold"/>
                <a:ea typeface="Pretendard ExtraBold"/>
                <a:cs typeface="Pretendard ExtraBold"/>
              </a:rPr>
              <a:t>게임 컨텐츠 구성 - 레이싱 시스템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20700" y="3416300"/>
            <a:ext cx="7988300" cy="2997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20700" y="6807200"/>
            <a:ext cx="7988300" cy="29972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991600" y="3860800"/>
            <a:ext cx="8890000" cy="508000"/>
          </a:xfrm>
          <a:prstGeom prst="rect">
            <a:avLst/>
          </a:prstGeom>
        </p:spPr>
        <p:txBody>
          <a:bodyPr anchor="b" rtlCol="false" lIns="0" tIns="0" rIns="0" bIns="34290"/>
          <a:lstStyle/>
          <a:p>
            <a:pPr algn="l" lvl="0">
              <a:lnSpc>
                <a:spcPct val="99600"/>
              </a:lnSpc>
            </a:pPr>
            <a:r>
              <a:rPr lang="en-US" sz="2700" b="false" i="false" u="none" strike="noStrike">
                <a:solidFill>
                  <a:srgbClr val="18A8F1"/>
                </a:solidFill>
                <a:latin typeface="Pretendard Bold"/>
                <a:ea typeface="Pretendard Bold"/>
                <a:cs typeface="Pretendard Bold"/>
              </a:rPr>
              <a:t>말 사육의 꽃, 경마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78900" y="4737100"/>
            <a:ext cx="88773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직접 키우는 말로 경마 대회 참가</a:t>
            </a:r>
          </a:p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다인 대전을 통한 경쟁 컨텐츠</a:t>
            </a:r>
          </a:p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PVP 모드, 솔로 모드, AI 모드 지원</a:t>
            </a:r>
          </a:p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레이스 순위에 따른 보상 창출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91600" y="7239000"/>
            <a:ext cx="8890000" cy="508000"/>
          </a:xfrm>
          <a:prstGeom prst="rect">
            <a:avLst/>
          </a:prstGeom>
        </p:spPr>
        <p:txBody>
          <a:bodyPr anchor="b" rtlCol="false" lIns="0" tIns="0" rIns="0" bIns="34290"/>
          <a:lstStyle/>
          <a:p>
            <a:pPr algn="l" lvl="0">
              <a:lnSpc>
                <a:spcPct val="99600"/>
              </a:lnSpc>
            </a:pPr>
            <a:r>
              <a:rPr lang="en-US" sz="2700" b="false" i="false" u="none" strike="noStrike">
                <a:solidFill>
                  <a:srgbClr val="18A8F1"/>
                </a:solidFill>
                <a:latin typeface="Pretendard Bold"/>
                <a:ea typeface="Pretendard Bold"/>
                <a:cs typeface="Pretendard Bold"/>
              </a:rPr>
              <a:t>차별화 - '말'이라는 경주 수단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91600" y="8115300"/>
            <a:ext cx="88646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플레이어와 말이 호흡하는 듯한 양상</a:t>
            </a:r>
          </a:p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승마만의 독특한 레이싱 감각</a:t>
            </a:r>
          </a:p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몸싸움, 장애물을 통한 변수 창출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9400" y="1003300"/>
            <a:ext cx="37719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74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레이싱 컨텐츠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3900" y="596900"/>
            <a:ext cx="5080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12" b="false" i="false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08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76200" y="1879600"/>
            <a:ext cx="181483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7200" y="1003300"/>
            <a:ext cx="26162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74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기대 효과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23900" y="596900"/>
            <a:ext cx="5080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12" b="false" i="false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08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76200" y="1879600"/>
            <a:ext cx="181483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65300" y="3429000"/>
            <a:ext cx="5092700" cy="3441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765300" y="7721600"/>
            <a:ext cx="8877300" cy="2400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절차적 애니메이션 활용을 통해 실제적인 움직임 구현</a:t>
            </a:r>
          </a:p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AI 활용으로 학습하는 가상의 상대 구현</a:t>
            </a:r>
          </a:p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/>
            </a: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29900" y="3365500"/>
            <a:ext cx="6311900" cy="3568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0718800" y="7721600"/>
            <a:ext cx="88773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다이렉트X로는 졸작 기간내에 현실적으로 불가능한 기술 활용이
언리얼에서는 가능할거로 예상</a:t>
            </a:r>
          </a:p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- 언리얼 기반 개발으로 더욱 사실적이고 실감나는 애니메이션 구현</a:t>
            </a: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45200" y="4660900"/>
            <a:ext cx="69850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0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잘 부탁드립니다 교수님!!!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